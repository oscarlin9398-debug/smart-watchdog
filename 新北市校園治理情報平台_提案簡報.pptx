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05840"/>
            <a:ext cx="9997135" cy="48463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463040"/>
            <a:ext cx="8869680" cy="3840480"/>
          </a:xfrm>
          <a:prstGeom prst="rect">
            <a:avLst/>
          </a:prstGeom>
          <a:noFill/>
        </p:spPr>
        <p:txBody>
          <a:bodyPr wrap="square">
            <a:spAutoFit/>
          </a:bodyPr>
          <a:lstStyle/>
          <a:p>
            <a:pPr>
              <a:defRPr sz="1300" b="1">
                <a:solidFill>
                  <a:srgbClr val="2563EB"/>
                </a:solidFill>
              </a:defRPr>
            </a:pPr>
            <a:r>
              <a:t>🏆 2026 AWS 黑客松競賽提案 ｜ 命題：教保機構風險監測（教育局）</a:t>
            </a:r>
          </a:p>
          <a:p>
            <a:pPr>
              <a:spcBef>
                <a:spcPts val="1200"/>
              </a:spcBef>
              <a:defRPr sz="3600" b="1">
                <a:solidFill>
                  <a:srgbClr val="0F172A"/>
                </a:solidFill>
              </a:defRPr>
            </a:pPr>
            <a:r>
              <a:t>新北市校園治理情報平台</a:t>
            </a:r>
            <a:br/>
            <a:r>
              <a:t>Smart Watchdog</a:t>
            </a:r>
          </a:p>
          <a:p>
            <a:pPr>
              <a:spcBef>
                <a:spcPts val="1400"/>
              </a:spcBef>
              <a:defRPr sz="1500">
                <a:solidFill>
                  <a:srgbClr val="64748B"/>
                </a:solidFill>
              </a:defRPr>
            </a:pPr>
            <a:r>
              <a:t>以數據驅動與生成式 AI 賦能之學前幼托與 K-12 校園多維治理與事前風險預警決策支援系統</a:t>
            </a:r>
          </a:p>
          <a:p>
            <a:pPr>
              <a:spcBef>
                <a:spcPts val="2000"/>
              </a:spcBef>
              <a:defRPr sz="1200">
                <a:solidFill>
                  <a:srgbClr val="2563EB"/>
                </a:solidFill>
              </a:defRPr>
            </a:pPr>
            <a:r>
              <a:t>• 提案團隊：TKU 數據治理先鋒隊     • 部署指定區域：AWS us-west-2 (Oregon)     • 交付日期：2026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命題背景與痛點</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官方想解決問題剖析 (Official Problem Statement)</a:t>
            </a:r>
          </a:p>
        </p:txBody>
      </p:sp>
      <p:sp>
        <p:nvSpPr>
          <p:cNvPr id="5" name="Rounded Rectangle 4"/>
          <p:cNvSpPr/>
          <p:nvPr/>
        </p:nvSpPr>
        <p:spPr>
          <a:xfrm>
            <a:off x="731520" y="1645920"/>
            <a:ext cx="2468880" cy="438912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194560" cy="4023360"/>
          </a:xfrm>
          <a:prstGeom prst="rect">
            <a:avLst/>
          </a:prstGeom>
          <a:noFill/>
        </p:spPr>
        <p:txBody>
          <a:bodyPr wrap="square">
            <a:spAutoFit/>
          </a:bodyPr>
          <a:lstStyle/>
          <a:p>
            <a:pPr>
              <a:defRPr sz="1400" b="1">
                <a:solidFill>
                  <a:srgbClr val="DC2626"/>
                </a:solidFill>
              </a:defRPr>
            </a:pPr>
            <a:r>
              <a:t>1. 資料分散與整合困難</a:t>
            </a:r>
          </a:p>
          <a:p>
            <a:pPr>
              <a:spcBef>
                <a:spcPts val="400"/>
              </a:spcBef>
              <a:defRPr sz="1100" b="1">
                <a:solidFill>
                  <a:srgbClr val="0F172A"/>
                </a:solidFill>
              </a:defRPr>
            </a:pPr>
            <a:r>
              <a:t>公開資訊散落缺乏整合</a:t>
            </a:r>
          </a:p>
          <a:p>
            <a:pPr>
              <a:spcBef>
                <a:spcPts val="1000"/>
              </a:spcBef>
              <a:defRPr sz="1100">
                <a:solidFill>
                  <a:srgbClr val="64748B"/>
                </a:solidFill>
              </a:defRPr>
            </a:pPr>
            <a:r>
              <a:t>基本資料、評鑑歷程、裁罰紀錄、收費明細及財務決算雖為公開資訊，但分散於不同系統缺乏整合分析機制，且未納入社群即時輿情，難以形成完整客觀的風險判斷基礎。</a:t>
            </a:r>
          </a:p>
        </p:txBody>
      </p:sp>
      <p:sp>
        <p:nvSpPr>
          <p:cNvPr id="7" name="Rounded Rectangle 6"/>
          <p:cNvSpPr/>
          <p:nvPr/>
        </p:nvSpPr>
        <p:spPr>
          <a:xfrm>
            <a:off x="3483864" y="1645920"/>
            <a:ext cx="2468880" cy="43891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1024" y="1783080"/>
            <a:ext cx="2194560" cy="4023360"/>
          </a:xfrm>
          <a:prstGeom prst="rect">
            <a:avLst/>
          </a:prstGeom>
          <a:noFill/>
        </p:spPr>
        <p:txBody>
          <a:bodyPr wrap="square">
            <a:spAutoFit/>
          </a:bodyPr>
          <a:lstStyle/>
          <a:p>
            <a:pPr>
              <a:defRPr sz="1400" b="1">
                <a:solidFill>
                  <a:srgbClr val="D97706"/>
                </a:solidFill>
              </a:defRPr>
            </a:pPr>
            <a:r>
              <a:t>2. 財務異常難以及早發現</a:t>
            </a:r>
          </a:p>
          <a:p>
            <a:pPr>
              <a:spcBef>
                <a:spcPts val="400"/>
              </a:spcBef>
              <a:defRPr sz="1100" b="1">
                <a:solidFill>
                  <a:srgbClr val="0F172A"/>
                </a:solidFill>
              </a:defRPr>
            </a:pPr>
            <a:r>
              <a:t>決算報告未交叉勾稽</a:t>
            </a:r>
          </a:p>
          <a:p>
            <a:pPr>
              <a:spcBef>
                <a:spcPts val="1000"/>
              </a:spcBef>
              <a:defRPr sz="1100">
                <a:solidFill>
                  <a:srgbClr val="64748B"/>
                </a:solidFill>
              </a:defRPr>
            </a:pPr>
            <a:r>
              <a:t>公共化幼兒園之決算或財務報告雖依法公告，但傳統模式缺乏與收費明細、核定收托規模、採購工程等資訊進行深度交叉分析，難以在第一時間自動偵測人為拆單或做假帳等財務異常。</a:t>
            </a:r>
          </a:p>
        </p:txBody>
      </p:sp>
      <p:sp>
        <p:nvSpPr>
          <p:cNvPr id="9" name="Rounded Rectangle 8"/>
          <p:cNvSpPr/>
          <p:nvPr/>
        </p:nvSpPr>
        <p:spPr>
          <a:xfrm>
            <a:off x="6236208" y="1645920"/>
            <a:ext cx="2468880" cy="43891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783080"/>
            <a:ext cx="2194560" cy="4023360"/>
          </a:xfrm>
          <a:prstGeom prst="rect">
            <a:avLst/>
          </a:prstGeom>
          <a:noFill/>
        </p:spPr>
        <p:txBody>
          <a:bodyPr wrap="square">
            <a:spAutoFit/>
          </a:bodyPr>
          <a:lstStyle/>
          <a:p>
            <a:pPr>
              <a:defRPr sz="1400" b="1">
                <a:solidFill>
                  <a:srgbClr val="2563EB"/>
                </a:solidFill>
              </a:defRPr>
            </a:pPr>
            <a:r>
              <a:t>3. 風險辨識與預警不足</a:t>
            </a:r>
          </a:p>
          <a:p>
            <a:pPr>
              <a:spcBef>
                <a:spcPts val="400"/>
              </a:spcBef>
              <a:defRPr sz="1100" b="1">
                <a:solidFill>
                  <a:srgbClr val="0F172A"/>
                </a:solidFill>
              </a:defRPr>
            </a:pPr>
            <a:r>
              <a:t>缺乏量化預警工具</a:t>
            </a:r>
          </a:p>
          <a:p>
            <a:pPr>
              <a:spcBef>
                <a:spcPts val="1000"/>
              </a:spcBef>
              <a:defRPr sz="1100">
                <a:solidFill>
                  <a:srgbClr val="64748B"/>
                </a:solidFill>
              </a:defRPr>
            </a:pPr>
            <a:r>
              <a:t>主管機關缺乏標準化、可量化的風險動態評估工具，面對新北逾 1,500 所公私立學校與幼托，無法迅速且客觀地從大量機構中自動篩選出需優先關注的高風險未爆彈。</a:t>
            </a:r>
          </a:p>
        </p:txBody>
      </p:sp>
      <p:sp>
        <p:nvSpPr>
          <p:cNvPr id="11" name="Rounded Rectangle 10"/>
          <p:cNvSpPr/>
          <p:nvPr/>
        </p:nvSpPr>
        <p:spPr>
          <a:xfrm>
            <a:off x="8988552" y="1645920"/>
            <a:ext cx="2468880" cy="438912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783080"/>
            <a:ext cx="2194560" cy="4023360"/>
          </a:xfrm>
          <a:prstGeom prst="rect">
            <a:avLst/>
          </a:prstGeom>
          <a:noFill/>
        </p:spPr>
        <p:txBody>
          <a:bodyPr wrap="square">
            <a:spAutoFit/>
          </a:bodyPr>
          <a:lstStyle/>
          <a:p>
            <a:pPr>
              <a:defRPr sz="1400" b="1">
                <a:solidFill>
                  <a:srgbClr val="8B5CF6"/>
                </a:solidFill>
              </a:defRPr>
            </a:pPr>
            <a:r>
              <a:t>4. 人力負擔重與決策支援不足</a:t>
            </a:r>
          </a:p>
          <a:p>
            <a:pPr>
              <a:spcBef>
                <a:spcPts val="400"/>
              </a:spcBef>
              <a:defRPr sz="1100" b="1">
                <a:solidFill>
                  <a:srgbClr val="0F172A"/>
                </a:solidFill>
              </a:defRPr>
            </a:pPr>
            <a:r>
              <a:t>仰賴人工耗時費力</a:t>
            </a:r>
          </a:p>
          <a:p>
            <a:pPr>
              <a:spcBef>
                <a:spcPts val="1000"/>
              </a:spcBef>
              <a:defRPr sz="1100">
                <a:solidFill>
                  <a:srgbClr val="64748B"/>
                </a:solidFill>
              </a:defRPr>
            </a:pPr>
            <a:r>
              <a:t>機構數量龐大，專任稽查人力極度有限。傳統仰賴人工肉眼篩選與經驗判斷耗時費力，且缺乏客觀數據與 AI 決策輔助，難以支援最優化的公務資源配置策略。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壹、解決方案說明</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解決方案說明：獨創「5D 校園治理全景指標模型」</a:t>
            </a:r>
          </a:p>
        </p:txBody>
      </p:sp>
      <p:sp>
        <p:nvSpPr>
          <p:cNvPr id="5" name="Rounded Rectangle 4"/>
          <p:cNvSpPr/>
          <p:nvPr/>
        </p:nvSpPr>
        <p:spPr>
          <a:xfrm>
            <a:off x="7315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931920"/>
          </a:xfrm>
          <a:prstGeom prst="rect">
            <a:avLst/>
          </a:prstGeom>
          <a:noFill/>
        </p:spPr>
        <p:txBody>
          <a:bodyPr wrap="square">
            <a:spAutoFit/>
          </a:bodyPr>
          <a:lstStyle/>
          <a:p>
            <a:pPr>
              <a:defRPr sz="1700" b="1">
                <a:solidFill>
                  <a:srgbClr val="2563EB"/>
                </a:solidFill>
              </a:defRPr>
            </a:pPr>
            <a:r>
              <a:t>🎯 5D 指標如何全方位破解官方 4 大難題</a:t>
            </a:r>
          </a:p>
          <a:p>
            <a:pPr>
              <a:spcBef>
                <a:spcPts val="600"/>
              </a:spcBef>
              <a:defRPr sz="1200" b="1">
                <a:solidFill>
                  <a:srgbClr val="0F172A"/>
                </a:solidFill>
              </a:defRPr>
            </a:pPr>
            <a:r>
              <a:t>✓ 1. 裁罰法規違規維度 (35%)</a:t>
            </a:r>
          </a:p>
          <a:p>
            <a:pPr>
              <a:defRPr sz="1100">
                <a:solidFill>
                  <a:srgbClr val="64748B"/>
                </a:solidFill>
              </a:defRPr>
            </a:pPr>
            <a:r>
              <a:t>   破解資料分散：整合跨年度裁罰字號、超收幼童人數、黑牌無證教保員記點。</a:t>
            </a:r>
          </a:p>
          <a:p>
            <a:pPr>
              <a:spcBef>
                <a:spcPts val="600"/>
              </a:spcBef>
              <a:defRPr sz="1200" b="1">
                <a:solidFill>
                  <a:srgbClr val="0F172A"/>
                </a:solidFill>
              </a:defRPr>
            </a:pPr>
            <a:r>
              <a:t>✓ 2. 班佛採購財務維度 (20%)</a:t>
            </a:r>
          </a:p>
          <a:p>
            <a:pPr>
              <a:defRPr sz="1100">
                <a:solidFill>
                  <a:srgbClr val="64748B"/>
                </a:solidFill>
              </a:defRPr>
            </a:pPr>
            <a:r>
              <a:t>   破解財務異常難發現：首創導入 Benford's Law 首位數字卡方檢定，偵測拆單假帳。</a:t>
            </a:r>
          </a:p>
          <a:p>
            <a:pPr>
              <a:spcBef>
                <a:spcPts val="600"/>
              </a:spcBef>
              <a:defRPr sz="1200" b="1">
                <a:solidFill>
                  <a:srgbClr val="0F172A"/>
                </a:solidFill>
              </a:defRPr>
            </a:pPr>
            <a:r>
              <a:t>✓ 3. 社群負面輿情維度 (20%)</a:t>
            </a:r>
          </a:p>
          <a:p>
            <a:pPr>
              <a:defRPr sz="1100">
                <a:solidFill>
                  <a:srgbClr val="64748B"/>
                </a:solidFill>
              </a:defRPr>
            </a:pPr>
            <a:r>
              <a:t>   破解未納入即時輿情：採集 Google Places 即時家長真實評論，NLP 情感探勘。</a:t>
            </a:r>
          </a:p>
          <a:p>
            <a:pPr>
              <a:spcBef>
                <a:spcPts val="600"/>
              </a:spcBef>
              <a:defRPr sz="1200" b="1">
                <a:solidFill>
                  <a:srgbClr val="0F172A"/>
                </a:solidFill>
              </a:defRPr>
            </a:pPr>
            <a:r>
              <a:t>✓ 4. 師資異動流動維度 (15%)</a:t>
            </a:r>
          </a:p>
          <a:p>
            <a:pPr>
              <a:defRPr sz="1100">
                <a:solidFill>
                  <a:srgbClr val="64748B"/>
                </a:solidFill>
              </a:defRPr>
            </a:pPr>
            <a:r>
              <a:t>   破解風險辨識不足：追蹤核心師資頻繁離退、投保在職核備名冊合規性。</a:t>
            </a:r>
          </a:p>
          <a:p>
            <a:pPr>
              <a:spcBef>
                <a:spcPts val="600"/>
              </a:spcBef>
              <a:defRPr sz="1200" b="1">
                <a:solidFill>
                  <a:srgbClr val="0F172A"/>
                </a:solidFill>
              </a:defRPr>
            </a:pPr>
            <a:r>
              <a:t>✓ 5. 環境公安食安維度 (10%)</a:t>
            </a:r>
          </a:p>
          <a:p>
            <a:pPr>
              <a:defRPr sz="1100">
                <a:solidFill>
                  <a:srgbClr val="64748B"/>
                </a:solidFill>
              </a:defRPr>
            </a:pPr>
            <a:r>
              <a:t>   全面防護：午餐食材溯源 48h 留樣檢驗履歷與校舍防墜安全合格證書。</a:t>
            </a:r>
          </a:p>
        </p:txBody>
      </p:sp>
      <p:sp>
        <p:nvSpPr>
          <p:cNvPr id="7" name="Rounded Rectangle 6"/>
          <p:cNvSpPr/>
          <p:nvPr/>
        </p:nvSpPr>
        <p:spPr>
          <a:xfrm>
            <a:off x="62179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3931920"/>
          </a:xfrm>
          <a:prstGeom prst="rect">
            <a:avLst/>
          </a:prstGeom>
          <a:noFill/>
        </p:spPr>
        <p:txBody>
          <a:bodyPr wrap="square">
            <a:spAutoFit/>
          </a:bodyPr>
          <a:lstStyle/>
          <a:p>
            <a:pPr>
              <a:defRPr sz="1700" b="1">
                <a:solidFill>
                  <a:srgbClr val="10B981"/>
                </a:solidFill>
              </a:defRPr>
            </a:pPr>
            <a:r>
              <a:t>⚡ 方案效益：從「被動滅火」升級「事前預警」</a:t>
            </a:r>
          </a:p>
          <a:p>
            <a:pPr>
              <a:spcBef>
                <a:spcPts val="800"/>
              </a:spcBef>
              <a:defRPr sz="1300" b="1">
                <a:solidFill>
                  <a:srgbClr val="2563EB"/>
                </a:solidFill>
              </a:defRPr>
            </a:pPr>
            <a:r>
              <a:t>• 破除資料孤島：</a:t>
            </a:r>
          </a:p>
          <a:p>
            <a:pPr>
              <a:defRPr sz="1100">
                <a:solidFill>
                  <a:srgbClr val="64748B"/>
                </a:solidFill>
              </a:defRPr>
            </a:pPr>
            <a:r>
              <a:t>  建立單一全景數位儀表板，將分散於教育、衛政、工務、採購與社群的資訊一站式打通。</a:t>
            </a:r>
          </a:p>
          <a:p>
            <a:pPr>
              <a:spcBef>
                <a:spcPts val="800"/>
              </a:spcBef>
              <a:defRPr sz="1300" b="1">
                <a:solidFill>
                  <a:srgbClr val="2563EB"/>
                </a:solidFill>
              </a:defRPr>
            </a:pPr>
            <a:r>
              <a:t>• 標準量化評分 (0~100分)：</a:t>
            </a:r>
          </a:p>
          <a:p>
            <a:pPr>
              <a:defRPr sz="1100">
                <a:solidFill>
                  <a:srgbClr val="64748B"/>
                </a:solidFill>
              </a:defRPr>
            </a:pPr>
            <a:r>
              <a:t>  不再依賴主觀經驗判斷，透過多因子動態權重模型自動給予量化分數與風險等級。</a:t>
            </a:r>
          </a:p>
          <a:p>
            <a:pPr>
              <a:spcBef>
                <a:spcPts val="800"/>
              </a:spcBef>
              <a:defRPr sz="1300" b="1">
                <a:solidFill>
                  <a:srgbClr val="2563EB"/>
                </a:solidFill>
              </a:defRPr>
            </a:pPr>
            <a:r>
              <a:t>• 大幅減輕稽查負擔：</a:t>
            </a:r>
          </a:p>
          <a:p>
            <a:pPr>
              <a:defRPr sz="1100">
                <a:solidFill>
                  <a:srgbClr val="64748B"/>
                </a:solidFill>
              </a:defRPr>
            </a:pPr>
            <a:r>
              <a:t>  自動完成事前資料交叉勾稽與預警標註，讓教育局官員一秒掌握全市風險態勢。</a:t>
            </a:r>
          </a:p>
          <a:p>
            <a:pPr>
              <a:spcBef>
                <a:spcPts val="800"/>
              </a:spcBef>
              <a:defRPr sz="1300" b="1">
                <a:solidFill>
                  <a:srgbClr val="2563EB"/>
                </a:solidFill>
              </a:defRPr>
            </a:pPr>
            <a:r>
              <a:t>• 智慧決策與資源最佳化：</a:t>
            </a:r>
          </a:p>
          <a:p>
            <a:pPr>
              <a:defRPr sz="1100">
                <a:solidFill>
                  <a:srgbClr val="64748B"/>
                </a:solidFill>
              </a:defRPr>
            </a:pPr>
            <a:r>
              <a:t>  系統自動排定稽查優先順序，將專任稽查小組精準部署至真正有隱患的高風險機構。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壹、解決方案說明 (分級成效)</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解決方案說明：新北 468 所機構三級風險智慧分流</a:t>
            </a:r>
          </a:p>
        </p:txBody>
      </p:sp>
      <p:sp>
        <p:nvSpPr>
          <p:cNvPr id="5" name="Rounded Rectangle 4"/>
          <p:cNvSpPr/>
          <p:nvPr/>
        </p:nvSpPr>
        <p:spPr>
          <a:xfrm>
            <a:off x="731520" y="1645920"/>
            <a:ext cx="3328416" cy="438912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3931920"/>
          </a:xfrm>
          <a:prstGeom prst="rect">
            <a:avLst/>
          </a:prstGeom>
          <a:noFill/>
        </p:spPr>
        <p:txBody>
          <a:bodyPr wrap="square">
            <a:spAutoFit/>
          </a:bodyPr>
          <a:lstStyle/>
          <a:p>
            <a:pPr>
              <a:defRPr sz="1600" b="1">
                <a:solidFill>
                  <a:srgbClr val="DC2626"/>
                </a:solidFill>
              </a:defRPr>
            </a:pPr>
            <a:r>
              <a:t>🔴 第一級：高風險對象</a:t>
            </a:r>
          </a:p>
          <a:p>
            <a:pPr>
              <a:spcBef>
                <a:spcPts val="600"/>
              </a:spcBef>
              <a:defRPr sz="1100" b="1">
                <a:solidFill>
                  <a:srgbClr val="0F172A"/>
                </a:solidFill>
              </a:defRPr>
            </a:pPr>
            <a:r>
              <a:t>28 所 (6%)  【處置：3 日內突擊無預警稽查】</a:t>
            </a:r>
          </a:p>
          <a:p>
            <a:pPr>
              <a:spcBef>
                <a:spcPts val="1200"/>
              </a:spcBef>
              <a:defRPr sz="1100">
                <a:solidFill>
                  <a:srgbClr val="64748B"/>
                </a:solidFill>
              </a:defRPr>
            </a:pPr>
            <a:r>
              <a:t>評分區間：72 ~ 88 分</a:t>
            </a:r>
            <a:br/>
            <a:br/>
            <a:r>
              <a:t>典型特徵：涉及重大超收（如超收 28 人重罰 18 萬）、不當管教查證屬實、班佛定律高度假帳警示。</a:t>
            </a:r>
            <a:br/>
            <a:br/>
            <a:r>
              <a:t>決策支援：系統直接由 Bedrock 產出實地稽查指引，排定公安食安聯合督導小組 3 日內實地突擊抽查。</a:t>
            </a:r>
          </a:p>
        </p:txBody>
      </p:sp>
      <p:sp>
        <p:nvSpPr>
          <p:cNvPr id="7" name="Rounded Rectangle 6"/>
          <p:cNvSpPr/>
          <p:nvPr/>
        </p:nvSpPr>
        <p:spPr>
          <a:xfrm>
            <a:off x="4407408" y="1645920"/>
            <a:ext cx="3328416" cy="43891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828800"/>
            <a:ext cx="2962656" cy="3931920"/>
          </a:xfrm>
          <a:prstGeom prst="rect">
            <a:avLst/>
          </a:prstGeom>
          <a:noFill/>
        </p:spPr>
        <p:txBody>
          <a:bodyPr wrap="square">
            <a:spAutoFit/>
          </a:bodyPr>
          <a:lstStyle/>
          <a:p>
            <a:pPr>
              <a:defRPr sz="1600" b="1">
                <a:solidFill>
                  <a:srgbClr val="D97706"/>
                </a:solidFill>
              </a:defRPr>
            </a:pPr>
            <a:r>
              <a:t>🟡 第二級：中風險對象</a:t>
            </a:r>
          </a:p>
          <a:p>
            <a:pPr>
              <a:spcBef>
                <a:spcPts val="600"/>
              </a:spcBef>
              <a:defRPr sz="1100" b="1">
                <a:solidFill>
                  <a:srgbClr val="0F172A"/>
                </a:solidFill>
              </a:defRPr>
            </a:pPr>
            <a:r>
              <a:t>56 所 (12%)  【處置：次學期專案抽查輔導】</a:t>
            </a:r>
          </a:p>
          <a:p>
            <a:pPr>
              <a:spcBef>
                <a:spcPts val="1200"/>
              </a:spcBef>
              <a:defRPr sz="1100">
                <a:solidFill>
                  <a:srgbClr val="64748B"/>
                </a:solidFill>
              </a:defRPr>
            </a:pPr>
            <a:r>
              <a:t>評分區間：48 ~ 65 分</a:t>
            </a:r>
            <a:br/>
            <a:br/>
            <a:r>
              <a:t>典型特徵：偶發行政申報延宕、防墜設施微損限期改善、食材登錄漏填、家長社群出現負向關鍵字。</a:t>
            </a:r>
            <a:br/>
            <a:br/>
            <a:r>
              <a:t>決策支援：列入輔導改善名冊，限期 30 天線上上傳佐證，並排定次學期優先實地抽驗。</a:t>
            </a:r>
          </a:p>
        </p:txBody>
      </p:sp>
      <p:sp>
        <p:nvSpPr>
          <p:cNvPr id="9" name="Rounded Rectangle 8"/>
          <p:cNvSpPr/>
          <p:nvPr/>
        </p:nvSpPr>
        <p:spPr>
          <a:xfrm>
            <a:off x="8083296" y="1645920"/>
            <a:ext cx="3328416" cy="43891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6" y="1828800"/>
            <a:ext cx="2962656" cy="3931920"/>
          </a:xfrm>
          <a:prstGeom prst="rect">
            <a:avLst/>
          </a:prstGeom>
          <a:noFill/>
        </p:spPr>
        <p:txBody>
          <a:bodyPr wrap="square">
            <a:spAutoFit/>
          </a:bodyPr>
          <a:lstStyle/>
          <a:p>
            <a:pPr>
              <a:defRPr sz="1600" b="1">
                <a:solidFill>
                  <a:srgbClr val="10B981"/>
                </a:solidFill>
              </a:defRPr>
            </a:pPr>
            <a:r>
              <a:t>🟢 第三級：低風險對象</a:t>
            </a:r>
          </a:p>
          <a:p>
            <a:pPr>
              <a:spcBef>
                <a:spcPts val="600"/>
              </a:spcBef>
              <a:defRPr sz="1100" b="1">
                <a:solidFill>
                  <a:srgbClr val="0F172A"/>
                </a:solidFill>
              </a:defRPr>
            </a:pPr>
            <a:r>
              <a:t>384 所 (82%)  【處置：常態例行線上備查】</a:t>
            </a:r>
          </a:p>
          <a:p>
            <a:pPr>
              <a:spcBef>
                <a:spcPts val="1200"/>
              </a:spcBef>
              <a:defRPr sz="1100">
                <a:solidFill>
                  <a:srgbClr val="64748B"/>
                </a:solidFill>
              </a:defRPr>
            </a:pPr>
            <a:r>
              <a:t>評分區間：15 ~ 36 分</a:t>
            </a:r>
            <a:br/>
            <a:br/>
            <a:r>
              <a:t>典型特徵：各項食安登錄完整、防墜驗證合格齊備、師資核備齊全、家長網路社群正面口碑佳。</a:t>
            </a:r>
            <a:br/>
            <a:br/>
            <a:r>
              <a:t>決策支援：維持常態書面線上備查，大幅釋放 82% 常規普查人力，落實公務資源效益最大化。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貳、數據及資料運用</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數據及資料運用：4 大官方數據源與核心防弊模型</a:t>
            </a:r>
          </a:p>
        </p:txBody>
      </p:sp>
      <p:sp>
        <p:nvSpPr>
          <p:cNvPr id="5" name="Rounded Rectangle 4"/>
          <p:cNvSpPr/>
          <p:nvPr/>
        </p:nvSpPr>
        <p:spPr>
          <a:xfrm>
            <a:off x="7315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931920"/>
          </a:xfrm>
          <a:prstGeom prst="rect">
            <a:avLst/>
          </a:prstGeom>
          <a:noFill/>
        </p:spPr>
        <p:txBody>
          <a:bodyPr wrap="square">
            <a:spAutoFit/>
          </a:bodyPr>
          <a:lstStyle/>
          <a:p>
            <a:pPr>
              <a:defRPr sz="1700" b="1">
                <a:solidFill>
                  <a:srgbClr val="2563EB"/>
                </a:solidFill>
              </a:defRPr>
            </a:pPr>
            <a:r>
              <a:t>📥 四大多源異質官方數據匯流</a:t>
            </a:r>
          </a:p>
          <a:p>
            <a:pPr>
              <a:spcBef>
                <a:spcPts val="800"/>
              </a:spcBef>
              <a:defRPr sz="1200" b="1">
                <a:solidFill>
                  <a:srgbClr val="0F172A"/>
                </a:solidFill>
              </a:defRPr>
            </a:pPr>
            <a:r>
              <a:t>✓ 教育部全國教保資訊網 API</a:t>
            </a:r>
          </a:p>
          <a:p>
            <a:pPr>
              <a:defRPr sz="1100">
                <a:solidFill>
                  <a:srgbClr val="64748B"/>
                </a:solidFill>
              </a:defRPr>
            </a:pPr>
            <a:r>
              <a:t>   串接全台幼托登記立案證號、核定收托人數、歷史裁罰處分字號與違反法條。</a:t>
            </a:r>
          </a:p>
          <a:p>
            <a:pPr>
              <a:spcBef>
                <a:spcPts val="800"/>
              </a:spcBef>
              <a:defRPr sz="1200" b="1">
                <a:solidFill>
                  <a:srgbClr val="0F172A"/>
                </a:solidFill>
              </a:defRPr>
            </a:pPr>
            <a:r>
              <a:t>✓ 新北市政府開放資料平台 (NTPC Open Data)</a:t>
            </a:r>
          </a:p>
          <a:p>
            <a:pPr>
              <a:defRPr sz="1100">
                <a:solidFill>
                  <a:srgbClr val="64748B"/>
                </a:solidFill>
              </a:defRPr>
            </a:pPr>
            <a:r>
              <a:t>   整合新北 29 區公私立高中職、國中、國小全學制規模、學區與營養午餐合約。</a:t>
            </a:r>
          </a:p>
          <a:p>
            <a:pPr>
              <a:spcBef>
                <a:spcPts val="800"/>
              </a:spcBef>
              <a:defRPr sz="1200" b="1">
                <a:solidFill>
                  <a:srgbClr val="0F172A"/>
                </a:solidFill>
              </a:defRPr>
            </a:pPr>
            <a:r>
              <a:t>✓ 行政院政府電子採購網 (e-Procurement)</a:t>
            </a:r>
          </a:p>
          <a:p>
            <a:pPr>
              <a:defRPr sz="1100">
                <a:solidFill>
                  <a:srgbClr val="64748B"/>
                </a:solidFill>
              </a:defRPr>
            </a:pPr>
            <a:r>
              <a:t>   擷取大宗食材、設施採購與防墜修繕工程之招決標金額數據（供假帳檢定）。</a:t>
            </a:r>
          </a:p>
          <a:p>
            <a:pPr>
              <a:spcBef>
                <a:spcPts val="800"/>
              </a:spcBef>
              <a:defRPr sz="1200" b="1">
                <a:solidFill>
                  <a:srgbClr val="0F172A"/>
                </a:solidFill>
              </a:defRPr>
            </a:pPr>
            <a:r>
              <a:t>✓ Google Places &amp; Maps API</a:t>
            </a:r>
          </a:p>
          <a:p>
            <a:pPr>
              <a:defRPr sz="1100">
                <a:solidFill>
                  <a:srgbClr val="64748B"/>
                </a:solidFill>
              </a:defRPr>
            </a:pPr>
            <a:r>
              <a:t>   即時採集家長真實評分星等（1~5星）、評論則數與最新留言文本進行 NLP 探勘。</a:t>
            </a:r>
          </a:p>
        </p:txBody>
      </p:sp>
      <p:sp>
        <p:nvSpPr>
          <p:cNvPr id="7" name="Rounded Rectangle 6"/>
          <p:cNvSpPr/>
          <p:nvPr/>
        </p:nvSpPr>
        <p:spPr>
          <a:xfrm>
            <a:off x="62179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3931920"/>
          </a:xfrm>
          <a:prstGeom prst="rect">
            <a:avLst/>
          </a:prstGeom>
          <a:noFill/>
        </p:spPr>
        <p:txBody>
          <a:bodyPr wrap="square">
            <a:spAutoFit/>
          </a:bodyPr>
          <a:lstStyle/>
          <a:p>
            <a:pPr>
              <a:defRPr sz="1700" b="1">
                <a:solidFill>
                  <a:srgbClr val="10B981"/>
                </a:solidFill>
              </a:defRPr>
            </a:pPr>
            <a:r>
              <a:t>⚙️ 兩大防弊檢定與動態量化演算法</a:t>
            </a:r>
          </a:p>
          <a:p>
            <a:pPr>
              <a:spcBef>
                <a:spcPts val="800"/>
              </a:spcBef>
              <a:defRPr sz="1200" b="1">
                <a:solidFill>
                  <a:srgbClr val="2563EB"/>
                </a:solidFill>
              </a:defRPr>
            </a:pPr>
            <a:r>
              <a:t>🔍 班佛定律 (Benford's Law) 財務異常檢定</a:t>
            </a:r>
          </a:p>
          <a:p>
            <a:pPr>
              <a:defRPr sz="1100">
                <a:solidFill>
                  <a:srgbClr val="64748B"/>
                </a:solidFill>
              </a:defRPr>
            </a:pPr>
            <a:r>
              <a:t>分析採購金額首位數字機率分佈 P(d)=log10(1+1/d)。若卡方檢定 p-value &lt; 0.05 且首位反常集中於特定數字，自動觸發人為假帳與刻意拆單規避招標告警。</a:t>
            </a:r>
          </a:p>
          <a:p>
            <a:pPr>
              <a:spcBef>
                <a:spcPts val="800"/>
              </a:spcBef>
              <a:defRPr sz="1200" b="1">
                <a:solidFill>
                  <a:srgbClr val="2563EB"/>
                </a:solidFill>
              </a:defRPr>
            </a:pPr>
            <a:r>
              <a:t>🔍 多因子動態風險指數評分引擎</a:t>
            </a:r>
          </a:p>
          <a:p>
            <a:pPr>
              <a:defRPr sz="1100">
                <a:solidFill>
                  <a:srgbClr val="64748B"/>
                </a:solidFill>
              </a:defRPr>
            </a:pPr>
            <a:r>
              <a:t>綜合治理指數 = 裁罰 (35%) + 班佛 (20%) + 輿情 (20%) + 師生比 (15%) + 公安 (10%)，動態量化為 0~100 分。</a:t>
            </a:r>
          </a:p>
          <a:p>
            <a:pPr>
              <a:spcBef>
                <a:spcPts val="800"/>
              </a:spcBef>
              <a:defRPr sz="1200" b="1">
                <a:solidFill>
                  <a:srgbClr val="2563EB"/>
                </a:solidFill>
              </a:defRPr>
            </a:pPr>
            <a:r>
              <a:t>🔍 NLP 負面情感與違規關鍵詞探勘</a:t>
            </a:r>
          </a:p>
          <a:p>
            <a:pPr>
              <a:defRPr sz="1100">
                <a:solidFill>
                  <a:srgbClr val="64748B"/>
                </a:solidFill>
              </a:defRPr>
            </a:pPr>
            <a:r>
              <a:t>自動比對「超收、體罰、推搡、未核備、拉肚子、髒亂」等負向關鍵詞，提取潛在家長投訴意向，提早發掘隱性未爆彈。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參、AWS 雲端技術架構 (架構圖)</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AWS 雲端技術架構：全端雲端拓撲架構圖</a:t>
            </a:r>
          </a:p>
        </p:txBody>
      </p:sp>
      <p:sp>
        <p:nvSpPr>
          <p:cNvPr id="5" name="Rounded Rectangle 4"/>
          <p:cNvSpPr/>
          <p:nvPr/>
        </p:nvSpPr>
        <p:spPr>
          <a:xfrm>
            <a:off x="731520" y="1645920"/>
            <a:ext cx="5669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5212080" cy="4114800"/>
          </a:xfrm>
          <a:prstGeom prst="rect">
            <a:avLst/>
          </a:prstGeom>
          <a:noFill/>
        </p:spPr>
        <p:txBody>
          <a:bodyPr wrap="square">
            <a:spAutoFit/>
          </a:bodyPr>
          <a:lstStyle/>
          <a:p>
            <a:pPr>
              <a:defRPr sz="1600" b="1">
                <a:solidFill>
                  <a:srgbClr val="2563EB"/>
                </a:solidFill>
              </a:defRPr>
            </a:pPr>
            <a:r>
              <a:t>🏛️ AWS 全端雲端拓撲架構圖</a:t>
            </a:r>
          </a:p>
          <a:p>
            <a:pPr>
              <a:spcBef>
                <a:spcPts val="400"/>
              </a:spcBef>
              <a:defRPr sz="919">
                <a:solidFill>
                  <a:srgbClr val="0F172A"/>
                </a:solidFill>
                <a:latin typeface="Consolas"/>
              </a:defRPr>
            </a:pPr>
            <a:r>
              <a:t>[ 終端使用者 / 家長 / 教育局稽查官 ]</a:t>
            </a:r>
            <a:br/>
            <a:r>
              <a:t>       │ (HTTPS TLS 1.3 傳輸)</a:t>
            </a:r>
            <a:br/>
            <a:r>
              <a:t>       ▼</a:t>
            </a:r>
            <a:br/>
            <a:r>
              <a:t>┌──────────────────────────────────────────────┐</a:t>
            </a:r>
            <a:br/>
            <a:r>
              <a:t>│ Amazon CloudFront (全球 CDN + AWS WAF 防火牆)│ (唯一公開對外入口)</a:t>
            </a:r>
            <a:br/>
            <a:r>
              <a:t>└───────────────┬──────────────────────────────┘</a:t>
            </a:r>
            <a:br/>
            <a:r>
              <a:t>                │</a:t>
            </a:r>
            <a:br/>
            <a:r>
              <a:t>     ┌──────────┴──────────┐</a:t>
            </a:r>
            <a:br/>
            <a:r>
              <a:t>(靜態 SPA 前端)            │ (動態 API: /api/*)</a:t>
            </a:r>
            <a:br/>
            <a:r>
              <a:t>     ▼                     ▼</a:t>
            </a:r>
            <a:br/>
            <a:r>
              <a:t>┌──────────────┐   ┌───────────────────────────┐</a:t>
            </a:r>
            <a:br/>
            <a:r>
              <a:t>│  Amazon S3   │   │ Application Load Balancer │</a:t>
            </a:r>
            <a:br/>
            <a:r>
              <a:t>│ (Block Public│   └─────────────┬─────────────┘</a:t>
            </a:r>
            <a:br/>
            <a:r>
              <a:t>│  Access 開啟)│                 │ (私有 VPC 路由)</a:t>
            </a:r>
            <a:br/>
            <a:r>
              <a:t>│ 透過 OAC 授權│                 ▼</a:t>
            </a:r>
            <a:br/>
            <a:r>
              <a:t>└──────────────┘   ┌───────────────────────────┐</a:t>
            </a:r>
            <a:br/>
            <a:r>
              <a:t>                   │ Amazon ECS Fargate 容器叢集│ (FastAPI 後端)</a:t>
            </a:r>
            <a:br/>
            <a:r>
              <a:t>                   └───────┬───────────┬───────┘</a:t>
            </a:r>
            <a:br/>
            <a:r>
              <a:t>                           │           │</a:t>
            </a:r>
            <a:br/>
            <a:r>
              <a:t>            ┌──────────────┘           └──────────────┐</a:t>
            </a:r>
            <a:br/>
            <a:r>
              <a:t>            ▼                                         ▼</a:t>
            </a:r>
            <a:br/>
            <a:r>
              <a:t>┌─────────────────────────┐               ┌─────────────────────────┐</a:t>
            </a:r>
            <a:br/>
            <a:r>
              <a:t>│ Amazon Aurora RDS       │               │ Amazon Bedrock          │</a:t>
            </a:r>
            <a:br/>
            <a:r>
              <a:t>│ (PostgreSQL 引擎)       │               │ (Claude 3.5 Sonnet 模型)│</a:t>
            </a:r>
            <a:br/>
            <a:r>
              <a:t>│ (Private Subnet 禁外網) │               │ (嚴格限流: RPS &lt;= 1)    │</a:t>
            </a:r>
            <a:br/>
            <a:r>
              <a:t>│ 儲存新北 468 所校園數據  │               │ 自動產出突擊稽查指示手冊│</a:t>
            </a:r>
            <a:br/>
            <a:r>
              <a:t>└─────────────────────────┘               └─────────────────────────┘</a:t>
            </a:r>
          </a:p>
        </p:txBody>
      </p:sp>
      <p:sp>
        <p:nvSpPr>
          <p:cNvPr id="7" name="Rounded Rectangle 6"/>
          <p:cNvSpPr/>
          <p:nvPr/>
        </p:nvSpPr>
        <p:spPr>
          <a:xfrm>
            <a:off x="6675120" y="1645920"/>
            <a:ext cx="47548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1874519"/>
            <a:ext cx="4297680" cy="3931920"/>
          </a:xfrm>
          <a:prstGeom prst="rect">
            <a:avLst/>
          </a:prstGeom>
          <a:noFill/>
        </p:spPr>
        <p:txBody>
          <a:bodyPr wrap="square">
            <a:spAutoFit/>
          </a:bodyPr>
          <a:lstStyle/>
          <a:p>
            <a:pPr>
              <a:defRPr sz="1600" b="1">
                <a:solidFill>
                  <a:srgbClr val="10B981"/>
                </a:solidFill>
              </a:defRPr>
            </a:pPr>
            <a:r>
              <a:t>🛡️ 100% 恪遵大會安全規範檢核</a:t>
            </a:r>
          </a:p>
          <a:p>
            <a:pPr>
              <a:spcBef>
                <a:spcPts val="600"/>
              </a:spcBef>
              <a:defRPr sz="1200" b="1">
                <a:solidFill>
                  <a:srgbClr val="0F172A"/>
                </a:solidFill>
              </a:defRPr>
            </a:pPr>
            <a:r>
              <a:t>✅ 1. S3 阻斷公用存取 (Block Public Access)</a:t>
            </a:r>
          </a:p>
          <a:p>
            <a:pPr>
              <a:defRPr sz="1050">
                <a:solidFill>
                  <a:srgbClr val="64748B"/>
                </a:solidFill>
              </a:defRPr>
            </a:pPr>
            <a:r>
              <a:t>S3 關閉所有公用存取，僅允許 CloudFront 透過 OAC 憑證讀取。</a:t>
            </a:r>
          </a:p>
          <a:p>
            <a:pPr>
              <a:spcBef>
                <a:spcPts val="600"/>
              </a:spcBef>
              <a:defRPr sz="1200" b="1">
                <a:solidFill>
                  <a:srgbClr val="0F172A"/>
                </a:solidFill>
              </a:defRPr>
            </a:pPr>
            <a:r>
              <a:t>✅ 2. 零個人敏感個資安全政策 (No PII)</a:t>
            </a:r>
          </a:p>
          <a:p>
            <a:pPr>
              <a:defRPr sz="1050">
                <a:solidFill>
                  <a:srgbClr val="64748B"/>
                </a:solidFill>
              </a:defRPr>
            </a:pPr>
            <a:r>
              <a:t>僅收錄政府公開機構立案與公告處分，零收錄個人隱私資料。</a:t>
            </a:r>
          </a:p>
          <a:p>
            <a:pPr>
              <a:spcBef>
                <a:spcPts val="600"/>
              </a:spcBef>
              <a:defRPr sz="1200" b="1">
                <a:solidFill>
                  <a:srgbClr val="0F172A"/>
                </a:solidFill>
              </a:defRPr>
            </a:pPr>
            <a:r>
              <a:t>✅ 3. 資料庫關閉公網存取 (Private DB)</a:t>
            </a:r>
          </a:p>
          <a:p>
            <a:pPr>
              <a:defRPr sz="1050">
                <a:solidFill>
                  <a:srgbClr val="64748B"/>
                </a:solidFill>
              </a:defRPr>
            </a:pPr>
            <a:r>
              <a:t>Aurora RDS 部署於 VPC 私有子網，Security Group 嚴禁公網直連。</a:t>
            </a:r>
          </a:p>
          <a:p>
            <a:pPr>
              <a:spcBef>
                <a:spcPts val="600"/>
              </a:spcBef>
              <a:defRPr sz="1200" b="1">
                <a:solidFill>
                  <a:srgbClr val="0F172A"/>
                </a:solidFill>
              </a:defRPr>
            </a:pPr>
            <a:r>
              <a:t>✅ 4. Amazon Bedrock 嚴格限流 (RPS &lt;= 1)</a:t>
            </a:r>
          </a:p>
          <a:p>
            <a:pPr>
              <a:defRPr sz="1050">
                <a:solidFill>
                  <a:srgbClr val="64748B"/>
                </a:solidFill>
              </a:defRPr>
            </a:pPr>
            <a:r>
              <a:t>內建令牌桶 (Token Bucket) 節流演算法，嚴格控制每秒 1 次以下。</a:t>
            </a:r>
          </a:p>
          <a:p>
            <a:pPr>
              <a:spcBef>
                <a:spcPts val="600"/>
              </a:spcBef>
              <a:defRPr sz="1200" b="1">
                <a:solidFill>
                  <a:srgbClr val="0F172A"/>
                </a:solidFill>
              </a:defRPr>
            </a:pPr>
            <a:r>
              <a:t>✅ 5. 部署於指定主要區域 (Region)</a:t>
            </a:r>
          </a:p>
          <a:p>
            <a:pPr>
              <a:defRPr sz="1050">
                <a:solidFill>
                  <a:srgbClr val="64748B"/>
                </a:solidFill>
              </a:defRPr>
            </a:pPr>
            <a:r>
              <a:t>全架構統一規劃部署於 AWS us-west-2 (Oregon) 區域。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肆、使用介面及操作流程</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使用介面及操作流程：GIS 熱點圖台與機構名冊</a:t>
            </a:r>
          </a:p>
        </p:txBody>
      </p:sp>
      <p:sp>
        <p:nvSpPr>
          <p:cNvPr id="5" name="Rounded Rectangle 4"/>
          <p:cNvSpPr/>
          <p:nvPr/>
        </p:nvSpPr>
        <p:spPr>
          <a:xfrm>
            <a:off x="7315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4754880" cy="3931920"/>
          </a:xfrm>
          <a:prstGeom prst="rect">
            <a:avLst/>
          </a:prstGeom>
          <a:noFill/>
        </p:spPr>
        <p:txBody>
          <a:bodyPr wrap="square">
            <a:spAutoFit/>
          </a:bodyPr>
          <a:lstStyle/>
          <a:p>
            <a:pPr>
              <a:defRPr sz="1700" b="1">
                <a:solidFill>
                  <a:srgbClr val="2563EB"/>
                </a:solidFill>
              </a:defRPr>
            </a:pPr>
            <a:r>
              <a:t>🗺️ 新北 GIS 地理資訊熱點地圖</a:t>
            </a:r>
          </a:p>
          <a:p>
            <a:pPr>
              <a:spcBef>
                <a:spcPts val="800"/>
              </a:spcBef>
              <a:defRPr sz="1200" b="1">
                <a:solidFill>
                  <a:srgbClr val="0F172A"/>
                </a:solidFill>
              </a:defRPr>
            </a:pPr>
            <a:r>
              <a:t>• 新北全境 29 行政區快選膠囊</a:t>
            </a:r>
          </a:p>
          <a:p>
            <a:pPr>
              <a:defRPr sz="1100">
                <a:solidFill>
                  <a:srgbClr val="64748B"/>
                </a:solidFill>
              </a:defRPr>
            </a:pPr>
            <a:r>
              <a:t>  支援板橋、新莊、中和、永和、淡水、林口等 29 區一鍵縮放聚焦。</a:t>
            </a:r>
          </a:p>
          <a:p>
            <a:pPr>
              <a:spcBef>
                <a:spcPts val="800"/>
              </a:spcBef>
              <a:defRPr sz="1200" b="1">
                <a:solidFill>
                  <a:srgbClr val="0F172A"/>
                </a:solidFill>
              </a:defRPr>
            </a:pPr>
            <a:r>
              <a:t>• 四大全學制維度自由切換</a:t>
            </a:r>
          </a:p>
          <a:p>
            <a:pPr>
              <a:defRPr sz="1100">
                <a:solidFill>
                  <a:srgbClr val="64748B"/>
                </a:solidFill>
              </a:defRPr>
            </a:pPr>
            <a:r>
              <a:t>  即時切換高中職 (48 所)、國中 (63 所)、國小 (164 所)、幼兒園 (193 所)。</a:t>
            </a:r>
          </a:p>
          <a:p>
            <a:pPr>
              <a:spcBef>
                <a:spcPts val="800"/>
              </a:spcBef>
              <a:defRPr sz="1200" b="1">
                <a:solidFill>
                  <a:srgbClr val="0F172A"/>
                </a:solidFill>
              </a:defRPr>
            </a:pPr>
            <a:r>
              <a:t>• 風險等級色彩即時分流</a:t>
            </a:r>
          </a:p>
          <a:p>
            <a:pPr>
              <a:defRPr sz="1100">
                <a:solidFill>
                  <a:srgbClr val="64748B"/>
                </a:solidFill>
              </a:defRPr>
            </a:pPr>
            <a:r>
              <a:t>  紅標（高風險）、黃標（中風險）、綠標（合格優良）清晰標記。</a:t>
            </a:r>
          </a:p>
          <a:p>
            <a:pPr>
              <a:spcBef>
                <a:spcPts val="800"/>
              </a:spcBef>
              <a:defRPr sz="1200" b="1">
                <a:solidFill>
                  <a:srgbClr val="0F172A"/>
                </a:solidFill>
              </a:defRPr>
            </a:pPr>
            <a:r>
              <a:t>• 點擊彈出機構全維體檢卡</a:t>
            </a:r>
          </a:p>
          <a:p>
            <a:pPr>
              <a:defRPr sz="1100">
                <a:solidFill>
                  <a:srgbClr val="64748B"/>
                </a:solidFill>
              </a:defRPr>
            </a:pPr>
            <a:r>
              <a:t>  即刻查看綜合風險分數、核定收托容量、食安合格狀態與聯絡電話。</a:t>
            </a:r>
          </a:p>
        </p:txBody>
      </p:sp>
      <p:sp>
        <p:nvSpPr>
          <p:cNvPr id="7" name="Rounded Rectangle 6"/>
          <p:cNvSpPr/>
          <p:nvPr/>
        </p:nvSpPr>
        <p:spPr>
          <a:xfrm>
            <a:off x="62179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74519"/>
            <a:ext cx="4754880" cy="3931920"/>
          </a:xfrm>
          <a:prstGeom prst="rect">
            <a:avLst/>
          </a:prstGeom>
          <a:noFill/>
        </p:spPr>
        <p:txBody>
          <a:bodyPr wrap="square">
            <a:spAutoFit/>
          </a:bodyPr>
          <a:lstStyle/>
          <a:p>
            <a:pPr>
              <a:defRPr sz="1700" b="1">
                <a:solidFill>
                  <a:srgbClr val="8B5CF6"/>
                </a:solidFill>
              </a:defRPr>
            </a:pPr>
            <a:r>
              <a:t>📋 機構治理名冊與 5D 抽屜詳情 (AuditDrawer)</a:t>
            </a:r>
          </a:p>
          <a:p>
            <a:pPr>
              <a:spcBef>
                <a:spcPts val="800"/>
              </a:spcBef>
              <a:defRPr sz="1200" b="1">
                <a:solidFill>
                  <a:srgbClr val="2563EB"/>
                </a:solidFill>
              </a:defRPr>
            </a:pPr>
            <a:r>
              <a:t>• 全方位多維複合篩選列</a:t>
            </a:r>
          </a:p>
          <a:p>
            <a:pPr>
              <a:defRPr sz="1100">
                <a:solidFill>
                  <a:srgbClr val="64748B"/>
                </a:solidFill>
              </a:defRPr>
            </a:pPr>
            <a:r>
              <a:t>  支援行政區下拉、學制下拉、風險等級過濾與關鍵字模糊搜尋。</a:t>
            </a:r>
          </a:p>
          <a:p>
            <a:pPr>
              <a:spcBef>
                <a:spcPts val="800"/>
              </a:spcBef>
              <a:defRPr sz="1200" b="1">
                <a:solidFill>
                  <a:srgbClr val="2563EB"/>
                </a:solidFill>
              </a:defRPr>
            </a:pPr>
            <a:r>
              <a:t>• 一鍵過濾「高風險警示名單」</a:t>
            </a:r>
          </a:p>
          <a:p>
            <a:pPr>
              <a:defRPr sz="1100">
                <a:solidFill>
                  <a:srgbClr val="64748B"/>
                </a:solidFill>
              </a:defRPr>
            </a:pPr>
            <a:r>
              <a:t>  即時篩出 28 所問題學校與幼兒園，快速供教育局做決策。</a:t>
            </a:r>
          </a:p>
          <a:p>
            <a:pPr>
              <a:spcBef>
                <a:spcPts val="800"/>
              </a:spcBef>
              <a:defRPr sz="1200" b="1">
                <a:solidFill>
                  <a:srgbClr val="2563EB"/>
                </a:solidFill>
              </a:defRPr>
            </a:pPr>
            <a:r>
              <a:t>• 右側展開深度稽查抽屜 (AuditDrawer)</a:t>
            </a:r>
          </a:p>
          <a:p>
            <a:pPr>
              <a:defRPr sz="1100">
                <a:solidFill>
                  <a:srgbClr val="64748B"/>
                </a:solidFill>
              </a:defRPr>
            </a:pPr>
            <a:r>
              <a:t>  點擊任一學校即可展開查看完整處分字號、裁罰歷程、現場檢核清單。</a:t>
            </a:r>
          </a:p>
          <a:p>
            <a:pPr>
              <a:spcBef>
                <a:spcPts val="800"/>
              </a:spcBef>
              <a:defRPr sz="1200" b="1">
                <a:solidFill>
                  <a:srgbClr val="2563EB"/>
                </a:solidFill>
              </a:defRPr>
            </a:pPr>
            <a:r>
              <a:t>• 整合班佛採購分析與 Google 評價</a:t>
            </a:r>
          </a:p>
          <a:p>
            <a:pPr>
              <a:defRPr sz="1100">
                <a:solidFill>
                  <a:srgbClr val="64748B"/>
                </a:solidFill>
              </a:defRPr>
            </a:pPr>
            <a:r>
              <a:t>  首創將公務採購合約檢定結果與家長評論情感圖表直接視覺化。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肆、使用介面及操作流程</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使用介面及操作流程：稽查 SOP 與雙校雷達對比</a:t>
            </a:r>
          </a:p>
        </p:txBody>
      </p:sp>
      <p:sp>
        <p:nvSpPr>
          <p:cNvPr id="5" name="Rounded Rectangle 4"/>
          <p:cNvSpPr/>
          <p:nvPr/>
        </p:nvSpPr>
        <p:spPr>
          <a:xfrm>
            <a:off x="7315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4754880" cy="3931920"/>
          </a:xfrm>
          <a:prstGeom prst="rect">
            <a:avLst/>
          </a:prstGeom>
          <a:noFill/>
        </p:spPr>
        <p:txBody>
          <a:bodyPr wrap="square">
            <a:spAutoFit/>
          </a:bodyPr>
          <a:lstStyle/>
          <a:p>
            <a:pPr>
              <a:defRPr sz="1700" b="1">
                <a:solidFill>
                  <a:srgbClr val="2563EB"/>
                </a:solidFill>
              </a:defRPr>
            </a:pPr>
            <a:r>
              <a:t>🔄 教育局日常監測四步標準流程 (SOP)</a:t>
            </a:r>
          </a:p>
          <a:p>
            <a:pPr>
              <a:spcBef>
                <a:spcPts val="800"/>
              </a:spcBef>
              <a:defRPr sz="1300" b="1">
                <a:solidFill>
                  <a:srgbClr val="0F172A"/>
                </a:solidFill>
              </a:defRPr>
            </a:pPr>
            <a:r>
              <a:t>Step 1. 全市儀表板宏觀盤點</a:t>
            </a:r>
          </a:p>
          <a:p>
            <a:pPr>
              <a:defRPr sz="1100">
                <a:solidFill>
                  <a:srgbClr val="64748B"/>
                </a:solidFill>
              </a:defRPr>
            </a:pPr>
            <a:r>
              <a:t>  局端官員檢視 468 所學校風險總覽、掌握 28 所高風險動向。</a:t>
            </a:r>
          </a:p>
          <a:p>
            <a:pPr>
              <a:spcBef>
                <a:spcPts val="800"/>
              </a:spcBef>
              <a:defRPr sz="1300" b="1">
                <a:solidFill>
                  <a:srgbClr val="0F172A"/>
                </a:solidFill>
              </a:defRPr>
            </a:pPr>
            <a:r>
              <a:t>Step 2. 鎖定高風險未爆彈</a:t>
            </a:r>
          </a:p>
          <a:p>
            <a:pPr>
              <a:defRPr sz="1100">
                <a:solidFill>
                  <a:srgbClr val="64748B"/>
                </a:solidFill>
              </a:defRPr>
            </a:pPr>
            <a:r>
              <a:t>  篩選出紅標機構，查看其重大違規超收或財務假帳異常。</a:t>
            </a:r>
          </a:p>
          <a:p>
            <a:pPr>
              <a:spcBef>
                <a:spcPts val="800"/>
              </a:spcBef>
              <a:defRPr sz="1300" b="1">
                <a:solidFill>
                  <a:srgbClr val="0F172A"/>
                </a:solidFill>
              </a:defRPr>
            </a:pPr>
            <a:r>
              <a:t>Step 3. 雙校雷達深度比對</a:t>
            </a:r>
          </a:p>
          <a:p>
            <a:pPr>
              <a:defRPr sz="1100">
                <a:solidFill>
                  <a:srgbClr val="64748B"/>
                </a:solidFill>
              </a:defRPr>
            </a:pPr>
            <a:r>
              <a:t>  挑選同區兩機構進行五維雷達對比，快速識別管理短板。</a:t>
            </a:r>
          </a:p>
          <a:p>
            <a:pPr>
              <a:spcBef>
                <a:spcPts val="800"/>
              </a:spcBef>
              <a:defRPr sz="1300" b="1">
                <a:solidFill>
                  <a:srgbClr val="0F172A"/>
                </a:solidFill>
              </a:defRPr>
            </a:pPr>
            <a:r>
              <a:t>Step 4. Bedrock AI 一鍵生成稽查工單</a:t>
            </a:r>
          </a:p>
          <a:p>
            <a:pPr>
              <a:defRPr sz="1100">
                <a:solidFill>
                  <a:srgbClr val="64748B"/>
                </a:solidFill>
              </a:defRPr>
            </a:pPr>
            <a:r>
              <a:t>  自動生成實地突擊稽查手冊，立即指派督導小組出勤。</a:t>
            </a:r>
          </a:p>
        </p:txBody>
      </p:sp>
      <p:sp>
        <p:nvSpPr>
          <p:cNvPr id="7" name="Rounded Rectangle 6"/>
          <p:cNvSpPr/>
          <p:nvPr/>
        </p:nvSpPr>
        <p:spPr>
          <a:xfrm>
            <a:off x="6217920" y="164592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74519"/>
            <a:ext cx="4754880" cy="3931920"/>
          </a:xfrm>
          <a:prstGeom prst="rect">
            <a:avLst/>
          </a:prstGeom>
          <a:noFill/>
        </p:spPr>
        <p:txBody>
          <a:bodyPr wrap="square">
            <a:spAutoFit/>
          </a:bodyPr>
          <a:lstStyle/>
          <a:p>
            <a:pPr>
              <a:defRPr sz="1700" b="1">
                <a:solidFill>
                  <a:srgbClr val="8B5CF6"/>
                </a:solidFill>
              </a:defRPr>
            </a:pPr>
            <a:r>
              <a:t>⚖️ 雙校五維雷達對比與創新亮點</a:t>
            </a:r>
          </a:p>
          <a:p>
            <a:pPr>
              <a:spcBef>
                <a:spcPts val="800"/>
              </a:spcBef>
              <a:defRPr sz="1200" b="1">
                <a:solidFill>
                  <a:srgbClr val="2563EB"/>
                </a:solidFill>
              </a:defRPr>
            </a:pPr>
            <a:r>
              <a:t>✓ 任意跨學制／同區橫向比對</a:t>
            </a:r>
          </a:p>
          <a:p>
            <a:pPr>
              <a:defRPr sz="1100">
                <a:solidFill>
                  <a:srgbClr val="64748B"/>
                </a:solidFill>
              </a:defRPr>
            </a:pPr>
            <a:r>
              <a:t>  支援新北任意兩所學校比對，如板橋高中 vs 新莊高中 或 海山國小 vs 秀朗國小。</a:t>
            </a:r>
          </a:p>
          <a:p>
            <a:pPr>
              <a:spcBef>
                <a:spcPts val="800"/>
              </a:spcBef>
              <a:defRPr sz="1200" b="1">
                <a:solidFill>
                  <a:srgbClr val="2563EB"/>
                </a:solidFill>
              </a:defRPr>
            </a:pPr>
            <a:r>
              <a:t>✓ 5 軸雷達指標直觀重疊繪製</a:t>
            </a:r>
          </a:p>
          <a:p>
            <a:pPr>
              <a:defRPr sz="1100">
                <a:solidFill>
                  <a:srgbClr val="64748B"/>
                </a:solidFill>
              </a:defRPr>
            </a:pPr>
            <a:r>
              <a:t>  清晰看出兩校在「法規裁罰、班佛財務、社群輿情、師資流動、公安食安」的落差面積。</a:t>
            </a:r>
          </a:p>
          <a:p>
            <a:pPr>
              <a:spcBef>
                <a:spcPts val="800"/>
              </a:spcBef>
              <a:defRPr sz="1200" b="1">
                <a:solidFill>
                  <a:srgbClr val="2563EB"/>
                </a:solidFill>
              </a:defRPr>
            </a:pPr>
            <a:r>
              <a:t>✓ Amazon Bedrock AI 智慧稽查手冊</a:t>
            </a:r>
          </a:p>
          <a:p>
            <a:pPr>
              <a:defRPr sz="1100">
                <a:solidFill>
                  <a:srgbClr val="64748B"/>
                </a:solidFill>
              </a:defRPr>
            </a:pPr>
            <a:r>
              <a:t>  依據歷史裁罰自動條列現場稽查清單與《幼照法》對應法條，內建 1 RPS 限流保護。</a:t>
            </a:r>
          </a:p>
          <a:p>
            <a:pPr>
              <a:spcBef>
                <a:spcPts val="800"/>
              </a:spcBef>
              <a:defRPr sz="1200" b="1">
                <a:solidFill>
                  <a:srgbClr val="2563EB"/>
                </a:solidFill>
              </a:defRPr>
            </a:pPr>
            <a:r>
              <a:t>✓ 匿名吹哨者 SHA-256 防偽存證</a:t>
            </a:r>
          </a:p>
          <a:p>
            <a:pPr>
              <a:defRPr sz="1100">
                <a:solidFill>
                  <a:srgbClr val="64748B"/>
                </a:solidFill>
              </a:defRPr>
            </a:pPr>
            <a:r>
              <a:t>  提供家長與教保員匿名檢舉通道，自動生成唯一雜湊加密存證，杜絕吃案。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預期效益與社會價值</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預期效益與社會價值 (Impact &amp; Value)</a:t>
            </a:r>
          </a:p>
        </p:txBody>
      </p:sp>
      <p:sp>
        <p:nvSpPr>
          <p:cNvPr id="5" name="Rounded Rectangle 4"/>
          <p:cNvSpPr/>
          <p:nvPr/>
        </p:nvSpPr>
        <p:spPr>
          <a:xfrm>
            <a:off x="731520" y="1645920"/>
            <a:ext cx="3328416"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2962656" cy="3931920"/>
          </a:xfrm>
          <a:prstGeom prst="rect">
            <a:avLst/>
          </a:prstGeom>
          <a:noFill/>
        </p:spPr>
        <p:txBody>
          <a:bodyPr wrap="square">
            <a:spAutoFit/>
          </a:bodyPr>
          <a:lstStyle/>
          <a:p>
            <a:pPr>
              <a:defRPr sz="1800" b="1">
                <a:solidFill>
                  <a:srgbClr val="2563EB"/>
                </a:solidFill>
              </a:defRPr>
            </a:pPr>
            <a:r>
              <a:t>🏛️ 對教育局監理端</a:t>
            </a:r>
          </a:p>
          <a:p>
            <a:pPr>
              <a:spcBef>
                <a:spcPts val="1000"/>
              </a:spcBef>
              <a:defRPr sz="1400" b="1">
                <a:solidFill>
                  <a:srgbClr val="10B981"/>
                </a:solidFill>
              </a:defRPr>
            </a:pPr>
            <a:r>
              <a:t>稽查效率提升 300%</a:t>
            </a:r>
          </a:p>
          <a:p>
            <a:pPr>
              <a:spcBef>
                <a:spcPts val="1400"/>
              </a:spcBef>
              <a:defRPr sz="1200">
                <a:solidFill>
                  <a:srgbClr val="64748B"/>
                </a:solidFill>
              </a:defRPr>
            </a:pPr>
            <a:r>
              <a:t>從漫無目的的隨機抽查，升級為以數據驅動的「精準前瞻打擊」，有效降低公務資源浪費，事前遏止惡性違規。</a:t>
            </a:r>
          </a:p>
        </p:txBody>
      </p:sp>
      <p:sp>
        <p:nvSpPr>
          <p:cNvPr id="7" name="Rounded Rectangle 6"/>
          <p:cNvSpPr/>
          <p:nvPr/>
        </p:nvSpPr>
        <p:spPr>
          <a:xfrm>
            <a:off x="4407408" y="1645920"/>
            <a:ext cx="3328416"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874519"/>
            <a:ext cx="2962656" cy="3931920"/>
          </a:xfrm>
          <a:prstGeom prst="rect">
            <a:avLst/>
          </a:prstGeom>
          <a:noFill/>
        </p:spPr>
        <p:txBody>
          <a:bodyPr wrap="square">
            <a:spAutoFit/>
          </a:bodyPr>
          <a:lstStyle/>
          <a:p>
            <a:pPr>
              <a:defRPr sz="1800" b="1">
                <a:solidFill>
                  <a:srgbClr val="2563EB"/>
                </a:solidFill>
              </a:defRPr>
            </a:pPr>
            <a:r>
              <a:t>🏫 對校園與教保機構</a:t>
            </a:r>
          </a:p>
          <a:p>
            <a:pPr>
              <a:spcBef>
                <a:spcPts val="1000"/>
              </a:spcBef>
              <a:defRPr sz="1400" b="1">
                <a:solidFill>
                  <a:srgbClr val="10B981"/>
                </a:solidFill>
              </a:defRPr>
            </a:pPr>
            <a:r>
              <a:t>促進行政自主合規</a:t>
            </a:r>
          </a:p>
          <a:p>
            <a:pPr>
              <a:spcBef>
                <a:spcPts val="1400"/>
              </a:spcBef>
              <a:defRPr sz="1200">
                <a:solidFill>
                  <a:srgbClr val="64748B"/>
                </a:solidFill>
              </a:defRPr>
            </a:pPr>
            <a:r>
              <a:t>建立公開透明的 5D 評核標竿，促使業者自主加強師生比合規、食材溯源管理與落實反霸凌防墜措施。</a:t>
            </a:r>
          </a:p>
        </p:txBody>
      </p:sp>
      <p:sp>
        <p:nvSpPr>
          <p:cNvPr id="9" name="Rounded Rectangle 8"/>
          <p:cNvSpPr/>
          <p:nvPr/>
        </p:nvSpPr>
        <p:spPr>
          <a:xfrm>
            <a:off x="8083296" y="1645920"/>
            <a:ext cx="3328416"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6" y="1874519"/>
            <a:ext cx="2962656" cy="3931920"/>
          </a:xfrm>
          <a:prstGeom prst="rect">
            <a:avLst/>
          </a:prstGeom>
          <a:noFill/>
        </p:spPr>
        <p:txBody>
          <a:bodyPr wrap="square">
            <a:spAutoFit/>
          </a:bodyPr>
          <a:lstStyle/>
          <a:p>
            <a:pPr>
              <a:defRPr sz="1800" b="1">
                <a:solidFill>
                  <a:srgbClr val="2563EB"/>
                </a:solidFill>
              </a:defRPr>
            </a:pPr>
            <a:r>
              <a:t>👨‍👩‍👧 對家長與學子</a:t>
            </a:r>
          </a:p>
          <a:p>
            <a:pPr>
              <a:spcBef>
                <a:spcPts val="1000"/>
              </a:spcBef>
              <a:defRPr sz="1400" b="1">
                <a:solidFill>
                  <a:srgbClr val="10B981"/>
                </a:solidFill>
              </a:defRPr>
            </a:pPr>
            <a:r>
              <a:t>安心就學與資訊對稱</a:t>
            </a:r>
          </a:p>
          <a:p>
            <a:pPr>
              <a:spcBef>
                <a:spcPts val="1400"/>
              </a:spcBef>
              <a:defRPr sz="1200">
                <a:solidFill>
                  <a:srgbClr val="64748B"/>
                </a:solidFill>
              </a:defRPr>
            </a:pPr>
            <a:r>
              <a:t>一站式透明查詢學校真實體檢歷史與常規狀況，破除廣告包裝迷思，守護新北市 40 萬學童安全成長。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2563EB"/>
                </a:solidFill>
              </a:defRPr>
            </a:pPr>
            <a:r>
              <a:t>AWS 黑客松競賽提案 ｜ 教育局命題：教保機構風險監測 ｜ 總結 ｜ 成果交付</a:t>
            </a:r>
          </a:p>
        </p:txBody>
      </p:sp>
      <p:sp>
        <p:nvSpPr>
          <p:cNvPr id="4" name="TextBox 3"/>
          <p:cNvSpPr txBox="1"/>
          <p:nvPr/>
        </p:nvSpPr>
        <p:spPr>
          <a:xfrm>
            <a:off x="731520" y="640080"/>
            <a:ext cx="10698480" cy="594360"/>
          </a:xfrm>
          <a:prstGeom prst="rect">
            <a:avLst/>
          </a:prstGeom>
          <a:noFill/>
        </p:spPr>
        <p:txBody>
          <a:bodyPr wrap="square">
            <a:spAutoFit/>
          </a:bodyPr>
          <a:lstStyle/>
          <a:p>
            <a:pPr>
              <a:defRPr sz="2200" b="1">
                <a:solidFill>
                  <a:srgbClr val="0F172A"/>
                </a:solidFill>
              </a:defRPr>
            </a:pPr>
            <a:r>
              <a:t>總結與競賽成果交付清單 (Deliverables &amp; Summary)</a:t>
            </a:r>
          </a:p>
        </p:txBody>
      </p:sp>
      <p:sp>
        <p:nvSpPr>
          <p:cNvPr id="5" name="Rounded Rectangle 4"/>
          <p:cNvSpPr/>
          <p:nvPr/>
        </p:nvSpPr>
        <p:spPr>
          <a:xfrm>
            <a:off x="1097280" y="1645920"/>
            <a:ext cx="9997135"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1874519"/>
            <a:ext cx="9235440" cy="3931920"/>
          </a:xfrm>
          <a:prstGeom prst="rect">
            <a:avLst/>
          </a:prstGeom>
          <a:noFill/>
        </p:spPr>
        <p:txBody>
          <a:bodyPr wrap="square">
            <a:spAutoFit/>
          </a:bodyPr>
          <a:lstStyle/>
          <a:p>
            <a:pPr>
              <a:defRPr sz="1900" b="1">
                <a:solidFill>
                  <a:srgbClr val="2563EB"/>
                </a:solidFill>
              </a:defRPr>
            </a:pPr>
            <a:r>
              <a:t>🎯 本專案完整成果交付清單（符合競賽 6 大繳交規範）</a:t>
            </a:r>
          </a:p>
          <a:p>
            <a:pPr>
              <a:spcBef>
                <a:spcPts val="600"/>
              </a:spcBef>
              <a:defRPr sz="1200" b="1">
                <a:solidFill>
                  <a:srgbClr val="0F172A"/>
                </a:solidFill>
              </a:defRPr>
            </a:pPr>
            <a:r>
              <a:t>• 【1. 解決方案說明】：完整對齊官方 4 大痛點，提出 5D 多維治理模型與新北 468 所機構實測分級</a:t>
            </a:r>
          </a:p>
          <a:p>
            <a:pPr>
              <a:spcBef>
                <a:spcPts val="600"/>
              </a:spcBef>
              <a:defRPr sz="1200" b="1">
                <a:solidFill>
                  <a:srgbClr val="0F172A"/>
                </a:solidFill>
              </a:defRPr>
            </a:pPr>
            <a:r>
              <a:t>• 【2. 數據及資料運用】：整合教育部、新北市 Open Data、採購網與 Google 評價，首創班佛定律假帳防弊</a:t>
            </a:r>
          </a:p>
          <a:p>
            <a:pPr>
              <a:spcBef>
                <a:spcPts val="600"/>
              </a:spcBef>
              <a:defRPr sz="1200" b="1">
                <a:solidFill>
                  <a:srgbClr val="0F172A"/>
                </a:solidFill>
              </a:defRPr>
            </a:pPr>
            <a:r>
              <a:t>• 【3. AWS 雲端技術架構】：嚴格符合 S3 Block Public Access、VPC Private Subnet、Bedrock RPS&lt;=1 之高規格安全架構</a:t>
            </a:r>
          </a:p>
          <a:p>
            <a:pPr>
              <a:spcBef>
                <a:spcPts val="600"/>
              </a:spcBef>
              <a:defRPr sz="1200" b="1">
                <a:solidFill>
                  <a:srgbClr val="0F172A"/>
                </a:solidFill>
              </a:defRPr>
            </a:pPr>
            <a:r>
              <a:t>• 【4. Live Demo 部署網址】：https://helpful-alcohol-stud-scout.trycloudflare.com (全功能即時在線)</a:t>
            </a:r>
          </a:p>
          <a:p>
            <a:pPr>
              <a:spcBef>
                <a:spcPts val="600"/>
              </a:spcBef>
              <a:defRPr sz="1200" b="1">
                <a:solidFill>
                  <a:srgbClr val="0F172A"/>
                </a:solidFill>
              </a:defRPr>
            </a:pPr>
            <a:r>
              <a:t>• 【5. 提案簡報檔案】：包含 新北市校園治理情報平台_提案簡報.pptx 與線上高解析度 HTML/PDF 投影片</a:t>
            </a:r>
          </a:p>
          <a:p>
            <a:pPr>
              <a:spcBef>
                <a:spcPts val="600"/>
              </a:spcBef>
              <a:defRPr sz="1200" b="1">
                <a:solidFill>
                  <a:srgbClr val="0F172A"/>
                </a:solidFill>
              </a:defRPr>
            </a:pPr>
            <a:r>
              <a:t>• 【6. GitHub 完整原始碼】：https://github.com/oscarlin9398-debug/smart-watchdog (公開 Public，完整開源)</a:t>
            </a:r>
          </a:p>
          <a:p>
            <a:pPr algn="ctr">
              <a:spcBef>
                <a:spcPts val="1600"/>
              </a:spcBef>
              <a:defRPr sz="1800" b="1">
                <a:solidFill>
                  <a:srgbClr val="2563EB"/>
                </a:solidFill>
              </a:defRPr>
            </a:pPr>
            <a:r>
              <a:t>感謝評審委員聆聽，敬請指教！ 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