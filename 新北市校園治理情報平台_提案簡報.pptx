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🏆 2026 AWS 黑客松競賽提案 ｜ 命題類別：教保機構風險監測（教育局）</a:t>
            </a:r>
          </a:p>
          <a:p>
            <a:pPr>
              <a:spcBef>
                <a:spcPts val="1200"/>
              </a:spcBef>
              <a:defRPr sz="3600" b="1">
                <a:solidFill>
                  <a:srgbClr val="0F172A"/>
                </a:solidFill>
              </a:defRPr>
            </a:pPr>
            <a:r>
              <a:t>新北市校園治理情報平台</a:t>
            </a:r>
            <a:br/>
            <a:r>
              <a:t>Smart Watchdog</a:t>
            </a:r>
          </a:p>
          <a:p>
            <a:pPr>
              <a:spcBef>
                <a:spcPts val="1400"/>
              </a:spcBef>
              <a:defRPr sz="1500">
                <a:solidFill>
                  <a:srgbClr val="64748B"/>
                </a:solidFill>
              </a:defRPr>
            </a:pPr>
            <a:r>
              <a:t>全台首創・以數據驅動與生成式 AI 輔助之學前幼托與 K-12 校園多維治理與風險預警系統</a:t>
            </a:r>
          </a:p>
          <a:p>
            <a:pPr>
              <a:spcBef>
                <a:spcPts val="2000"/>
              </a:spcBef>
              <a:defRPr sz="1200">
                <a:solidFill>
                  <a:srgbClr val="2563EB"/>
                </a:solidFill>
              </a:defRPr>
            </a:pPr>
            <a:r>
              <a:t>• 提案團隊：TKU 數據治理先鋒隊     • 部署指定區域：AWS us-west-2 (Oregon)     • 交付日期：2026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AGENDA 簡報大綱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提案大綱：對齊大會指定 4 大核心項目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563EB"/>
                </a:solidFill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</a:defRPr>
            </a:pPr>
            <a:r>
              <a:t>解決方案說明</a:t>
            </a:r>
          </a:p>
          <a:p>
            <a:pPr>
              <a:spcBef>
                <a:spcPts val="400"/>
              </a:spcBef>
              <a:defRPr sz="1100" b="1">
                <a:solidFill>
                  <a:srgbClr val="2563EB"/>
                </a:solidFill>
              </a:defRPr>
            </a:pPr>
            <a:r>
              <a:t>5D 模型與三級風險梯隊</a:t>
            </a:r>
          </a:p>
          <a:p>
            <a:pPr>
              <a:spcBef>
                <a:spcPts val="1200"/>
              </a:spcBef>
              <a:defRPr sz="1200">
                <a:solidFill>
                  <a:srgbClr val="64748B"/>
                </a:solidFill>
              </a:defRPr>
            </a:pPr>
            <a:r>
              <a:t>• 現行稽查三大痛點剖析</a:t>
            </a:r>
            <a:br/>
            <a:r>
              <a:t>• 獨創 5D 校園多維治理指標</a:t>
            </a:r>
            <a:br/>
            <a:r>
              <a:t>• 新北 468 所機構實測分級</a:t>
            </a:r>
            <a:br/>
            <a:r>
              <a:t>• 事前預警機制與稽查賦能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645920"/>
            <a:ext cx="24688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1024" y="182880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</a:defRPr>
            </a:pPr>
            <a:r>
              <a:t>數據及資料運用</a:t>
            </a:r>
          </a:p>
          <a:p>
            <a:pPr>
              <a:spcBef>
                <a:spcPts val="400"/>
              </a:spcBef>
              <a:defRPr sz="1100" b="1">
                <a:solidFill>
                  <a:srgbClr val="10B981"/>
                </a:solidFill>
              </a:defRPr>
            </a:pPr>
            <a:r>
              <a:t>4 大官方數據源與防弊模型</a:t>
            </a:r>
          </a:p>
          <a:p>
            <a:pPr>
              <a:spcBef>
                <a:spcPts val="1200"/>
              </a:spcBef>
              <a:defRPr sz="1200">
                <a:solidFill>
                  <a:srgbClr val="64748B"/>
                </a:solidFill>
              </a:defRPr>
            </a:pPr>
            <a:r>
              <a:t>• 教育部、新北OpenData、採購網</a:t>
            </a:r>
            <a:br/>
            <a:r>
              <a:t>• 班佛定律 (Benford's Law) 假帳檢定</a:t>
            </a:r>
            <a:br/>
            <a:r>
              <a:t>• Google 評論 NLP 情感探勘</a:t>
            </a:r>
            <a:br/>
            <a:r>
              <a:t>• 多因子動態風險量化演算法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45920"/>
            <a:ext cx="24688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82880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D97706"/>
                </a:solidFill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</a:defRPr>
            </a:pPr>
            <a:r>
              <a:t>AWS 雲端技術架構</a:t>
            </a:r>
          </a:p>
          <a:p>
            <a:pPr>
              <a:spcBef>
                <a:spcPts val="400"/>
              </a:spcBef>
              <a:defRPr sz="1100" b="1">
                <a:solidFill>
                  <a:srgbClr val="D97706"/>
                </a:solidFill>
              </a:defRPr>
            </a:pPr>
            <a:r>
              <a:t>含架構圖與大會安全檢核</a:t>
            </a:r>
          </a:p>
          <a:p>
            <a:pPr>
              <a:spcBef>
                <a:spcPts val="1200"/>
              </a:spcBef>
              <a:defRPr sz="1200">
                <a:solidFill>
                  <a:srgbClr val="64748B"/>
                </a:solidFill>
              </a:defRPr>
            </a:pPr>
            <a:r>
              <a:t>• 全端無伺服器與微服務拓撲圖</a:t>
            </a:r>
            <a:br/>
            <a:r>
              <a:t>• S3 Block Public Access + OAC</a:t>
            </a:r>
            <a:br/>
            <a:r>
              <a:t>• VPC 私有子網 Aurora RDS</a:t>
            </a:r>
            <a:br/>
            <a:r>
              <a:t>• Bedrock RPS &lt;= 1 令牌桶限流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645920"/>
            <a:ext cx="24688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5712" y="182880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</a:defRPr>
            </a:pPr>
            <a:r>
              <a:t>使用介面及操作流程</a:t>
            </a:r>
          </a:p>
          <a:p>
            <a:pPr>
              <a:spcBef>
                <a:spcPts val="400"/>
              </a:spcBef>
              <a:defRPr sz="1100" b="1">
                <a:solidFill>
                  <a:srgbClr val="8B5CF6"/>
                </a:solidFill>
              </a:defRPr>
            </a:pPr>
            <a:r>
              <a:t>GIS、雷達對比與 AI 稽查</a:t>
            </a:r>
          </a:p>
          <a:p>
            <a:pPr>
              <a:spcBef>
                <a:spcPts val="1200"/>
              </a:spcBef>
              <a:defRPr sz="1200">
                <a:solidFill>
                  <a:srgbClr val="64748B"/>
                </a:solidFill>
              </a:defRPr>
            </a:pPr>
            <a:r>
              <a:t>• 新北 29 區 GIS 地理熱點圖台</a:t>
            </a:r>
            <a:br/>
            <a:r>
              <a:t>• 機構名冊與 5D 深度稽查抽屜</a:t>
            </a:r>
            <a:br/>
            <a:r>
              <a:t>• 雙校五維雷達對比分析</a:t>
            </a:r>
            <a:br/>
            <a:r>
              <a:t>• 教育局 4 步現場稽查 SOP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項目一 ｜ 解決方案說明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項目一、解決方案說明：痛點與 5D 多維治理模型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C2626"/>
                </a:solidFill>
              </a:defRPr>
            </a:pPr>
            <a:r>
              <a:t>🚨 現行校園與教保稽查三大瓶頸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1. 事後被動滅火：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傳統稽查高度仰賴家長事後申訴或重大案件爆發（如超收28人、未核備教保員、不當管教），孩童身心已受實質傷害，教育局疲於滅火。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2. 局處資料孤島：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裁罰歷程、食材登錄、採購標案、公安消防與 Google 評論散落各系統，未打通橫向勾稽，無法綜合研判隱性未爆彈。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3. 稽查人力難以普查：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新北 29 區逾 1,500 所學校與幼托，專任稽查員難以地毯式普查，急需 AI 智慧風險分流，精準打擊高風險機構。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🎯 獨創「5D 校園多維治理指標模型」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✓ 1. 裁罰法規違規維度 (35%)：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累計違規處分字號、超收幼童人數、黑牌教保員記點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✓ 2. 班佛採購財務維度 (20%)：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大宗食材與校舍修繕合約，導入 Benford's Law 假帳防弊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✓ 3. 社群負面輿情維度 (20%)：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Google Places 公開評價與家長留言 NLP 情感分析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✓ 4. 師資異動流動維度 (15%)：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核心師資年度流動率異常、投保在職核備合規追蹤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✓ 5. 環境公安食安維度 (10%)：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校舍防墜設施檢驗合格證明、午餐廚房 48h 留樣履歷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項目一 ｜ 解決方案說明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項目一、解決方案說明：新北市 468 所機構實測分級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</a:defRPr>
            </a:pPr>
            <a:r>
              <a:t>🔴 第一級：高風險對象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28 所 (6%)  【處置：3 日內重點突擊稽查】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評分區間：72 ~ 88 分</a:t>
            </a:r>
            <a:br/>
            <a:br/>
            <a:r>
              <a:t>典型特徵：涉及重大違規超收（如超收 28 人重罰 18 萬）、不當管教查證屬實、班佛定律高度假帳警示。</a:t>
            </a:r>
            <a:br/>
            <a:br/>
            <a:r>
              <a:t>局端行動：由 Bedrock 產出實地稽查清單，排定公安食安小組 3 日內無預警現場盤查。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82880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🟡 第二級：中風險對象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56 所 (12%)  【處置：次學期專案抽查輔導】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評分區間：48 ~ 65 分</a:t>
            </a:r>
            <a:br/>
            <a:br/>
            <a:r>
              <a:t>典型特徵：偶發行政申報延宕、防墜設施微損限期改善、食材登錄漏填、評論出現負向關鍵字。</a:t>
            </a:r>
            <a:br/>
            <a:br/>
            <a:r>
              <a:t>局端行動：列入輔導名單，限期 30 天上傳改善照片，並排定次學期優先抽檢。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82880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🟢 第三級：低風險對象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384 所 (82%)  【處置：常態例行自主備查】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評分區間：15 ~ 36 分</a:t>
            </a:r>
            <a:br/>
            <a:br/>
            <a:r>
              <a:t>典型特徵：營運良好、各項食安公安登錄完整、防墜驗證齊備、家長網路社群正面評價高。</a:t>
            </a:r>
            <a:br/>
            <a:br/>
            <a:r>
              <a:t>局端行動：常態線上書面備查，大幅釋放稽查人力，將公務能量聚焦於高風險未爆彈。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項目二 ｜ 數據及資料運用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項目二、數據及資料運用：4 大數據源與防弊演算法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📥 四大多源異質官方數據前處理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✓ 教育部全國教保資訊網 API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串接幼托立案許可、核定收托名額、歷史違規處分字號與違反法條。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✓ 新北市政府開放資料平台 (NTPC Open Data)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整合新北 29 區公私立高中職、國中、國小規模、學區與午餐合約。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✓ 行政院政府電子採購網 (e-Procurement)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擷取食材供應、設備採購與校舍防墜工程之招標決標金額（供防弊分析）。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✓ Google Places &amp; Maps API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採集家長真實評分（1~5星）、評論則數與最新留言文本進行 NLP 探勘。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⚙️ 核心防弊演算法與量化模型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🔍 班佛定律 (Benford's Law) 財務異常檢定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分析採購標案金額首位數字機率分佈 P(d)=log10(1+1/d)。若卡方檢定 p-value &lt; 0.05 且首位反常集中於特定數字，自動觸發人為假帳與刻意拆單防弊告警。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🔍 多因子動態風險指數綜合評估模型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綜合治理指數 = 裁罰 (35%) + 班佛 (20%) + 輿情 (20%) + 師生比 (15%) + 公安 (10%)，動態量化為 0~100 風險分。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🔍 NLP 負面情感與違規關鍵字探勘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自動比對「超收、體罰、推搡、未核備、拉肚子、髒亂」等負向關鍵詞，提早發掘隱性家長投訴不滿。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項目三 ｜ AWS 雲端技術架構 (架構圖)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項目三、AWS 雲端技術架構：全端拓撲架構圖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669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🏛️ AWS 全端雲端拓撲架構圖</a:t>
            </a:r>
          </a:p>
          <a:p>
            <a:pPr>
              <a:spcBef>
                <a:spcPts val="400"/>
              </a:spcBef>
              <a:defRPr sz="919">
                <a:solidFill>
                  <a:srgbClr val="0F172A"/>
                </a:solidFill>
                <a:latin typeface="Consolas"/>
              </a:defRPr>
            </a:pPr>
            <a:r>
              <a:t>[ 終端使用者 / 家長 / 教育局稽查官 ]</a:t>
            </a:r>
            <a:br/>
            <a:r>
              <a:t>       │ (HTTPS TLS 1.3 傳輸)</a:t>
            </a:r>
            <a:br/>
            <a:r>
              <a:t>       ▼</a:t>
            </a:r>
            <a:br/>
            <a:r>
              <a:t>┌──────────────────────────────────────────────┐</a:t>
            </a:r>
            <a:br/>
            <a:r>
              <a:t>│ Amazon CloudFront (全球 CDN + AWS WAF 防火牆)│ (唯一公開對外入口)</a:t>
            </a:r>
            <a:br/>
            <a:r>
              <a:t>└───────────────┬──────────────────────────────┘</a:t>
            </a:r>
            <a:br/>
            <a:r>
              <a:t>                │</a:t>
            </a:r>
            <a:br/>
            <a:r>
              <a:t>     ┌──────────┴──────────┐</a:t>
            </a:r>
            <a:br/>
            <a:r>
              <a:t>(靜態 SPA 前端)            │ (動態 API: /api/*)</a:t>
            </a:r>
            <a:br/>
            <a:r>
              <a:t>     ▼                     ▼</a:t>
            </a:r>
            <a:br/>
            <a:r>
              <a:t>┌──────────────┐   ┌───────────────────────────┐</a:t>
            </a:r>
            <a:br/>
            <a:r>
              <a:t>│  Amazon S3   │   │ Application Load Balancer │</a:t>
            </a:r>
            <a:br/>
            <a:r>
              <a:t>│ (Block Public│   └─────────────┬─────────────┘</a:t>
            </a:r>
            <a:br/>
            <a:r>
              <a:t>│  Access 開啟)│                 │ (私有 VPC 路由)</a:t>
            </a:r>
            <a:br/>
            <a:r>
              <a:t>│ 透過 OAC 授權│                 ▼</a:t>
            </a:r>
            <a:br/>
            <a:r>
              <a:t>└──────────────┘   ┌───────────────────────────┐</a:t>
            </a:r>
            <a:br/>
            <a:r>
              <a:t>                   │ Amazon ECS Fargate 容器叢集│ (FastAPI 後端)</a:t>
            </a:r>
            <a:br/>
            <a:r>
              <a:t>                   └───────┬───────────┬───────┘</a:t>
            </a:r>
            <a:br/>
            <a:r>
              <a:t>                           │           │</a:t>
            </a:r>
            <a:br/>
            <a:r>
              <a:t>            ┌──────────────┘           └──────────────┐</a:t>
            </a:r>
            <a:br/>
            <a:r>
              <a:t>            ▼                                         ▼</a:t>
            </a:r>
            <a:br/>
            <a:r>
              <a:t>┌─────────────────────────┐               ┌─────────────────────────┐</a:t>
            </a:r>
            <a:br/>
            <a:r>
              <a:t>│ Amazon Aurora RDS       │               │ Amazon Bedrock          │</a:t>
            </a:r>
            <a:br/>
            <a:r>
              <a:t>│ (PostgreSQL 引擎)       │               │ (Claude 3.5 Sonnet 模型)│</a:t>
            </a:r>
            <a:br/>
            <a:r>
              <a:t>│ (Private Subnet 禁外網) │               │ (嚴格限流: RPS &lt;= 1)    │</a:t>
            </a:r>
            <a:br/>
            <a:r>
              <a:t>│ 儲存新北 468 所校園數據  │               │ 自動產出突擊稽查指示手冊│</a:t>
            </a:r>
            <a:br/>
            <a:r>
              <a:t>└─────────────────────────┘               └─────────────────────────┘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645920"/>
            <a:ext cx="47548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874519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🛡️ 100% 恪遵大會安全規範檢核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1. S3 阻斷公用存取 (Block Public Access)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S3 關閉所有公用存取，僅允許 CloudFront 透過 OAC 憑證讀取。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2. 零個人敏感個資安全政策 (No PII)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僅收錄政府公開機構立案與公告處分，零收錄個人隱私資料。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3. 資料庫關閉公網存取 (Private DB)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Aurora RDS 部署於 VPC 私有子網，Security Group 嚴禁公網直連。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4. Amazon Bedrock 嚴格限流 (RPS &lt;= 1)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內建令牌桶 (Token Bucket) 節流演算法，嚴格控制每秒 1 次以下。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5. 部署於指定主要區域 (Region)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全架構統一規劃部署於 AWS us-west-2 (Oregon) 區域。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項目四 ｜ 解決方案使用介面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項目四、使用介面及操作流程：GIS 熱點圖台與名冊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🗺️ 新北 GIS 地理資訊熱點地圖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• 新北全境 29 行政區快選膠囊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支援板橋、新莊、中和、永和、淡水、林口等 29 區一鍵縮放聚焦。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• 四大全學制維度自由切換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即時切換高中職 (48 所)、國中 (63 所)、國小 (164 所)、幼兒園 (193 所)。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• 風險等級色彩即時分流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紅標（高風險）、黃標（中風險）、綠標（合格優良）清晰標記。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• 點擊彈出機構全維體檢卡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即刻查看綜合風險分數、核定收托容量、食安合格狀態與聯絡電話。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8B5CF6"/>
                </a:solidFill>
              </a:defRPr>
            </a:pPr>
            <a:r>
              <a:t>📋 機構治理名冊與 5D 抽屜詳情 (AuditDrawer)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• 全方位多維複合篩選列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支援行政區下拉、學制下拉、風險等級過濾與關鍵字模糊搜尋。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• 一鍵過濾「高風險警示名單」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即時篩出 28 所問題學校與幼兒園，快速供教育局做決策。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• 右側展開深度稽查抽屜 (AuditDrawer)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點擊任一學校即可展開查看完整處分字號、裁罰歷程、現場檢核清單。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• 整合班佛採購分析與 Google 評價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首創將公務採購合約檢定結果與家長評論情感圖表直接視覺化。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項目四 ｜ 操作流程與創新功能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項目四、使用介面及操作流程：稽查 SOP 與雙校雷達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🔄 教育局日常監測四步標準流程 (SOP)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Step 1. 全市儀表板宏觀盤點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局端官員檢視 468 所學校風險總覽、掌握 28 所高風險動向。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Step 2. 鎖定高風險未爆彈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篩選出紅標機構，查看其重大違規超收或財務假帳異常。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Step 3. 雙校雷達深度比對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挑選同區兩機構進行五維雷達對比，快速識別管理短板。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Step 4. Bedrock AI 一鍵生成稽查工單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自動生成實地突擊稽查手冊，立即指派督導小組出勤。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8B5CF6"/>
                </a:solidFill>
              </a:defRPr>
            </a:pPr>
            <a:r>
              <a:t>⚖️ 雙校五維雷達對比與匿名吹哨者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✓ 任意跨學制／同區橫向比對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支援新北任意兩所學校比對，如板橋高中 vs 新莊高中 或 海山國小 vs 秀朗國小。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✓ 5 軸雷達指標直觀重疊繪製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清晰看出兩校在「法規裁罰、班佛財務、社群輿情、師資流動、公安食安」的落差面積。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✓ Amazon Bedrock AI 智慧稽查手冊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依據歷史裁罰自動條列現場稽查清單與《幼照法》對應法條，內建 1 RPS 限流保護。</a:t>
            </a:r>
          </a:p>
          <a:p>
            <a:pPr>
              <a:spcBef>
                <a:spcPts val="800"/>
              </a:spcBef>
              <a:defRPr sz="1200" b="1">
                <a:solidFill>
                  <a:srgbClr val="2563EB"/>
                </a:solidFill>
              </a:defRPr>
            </a:pPr>
            <a:r>
              <a:t>✓ 匿名吹哨者 SHA-256 防偽存證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提供家長與教保員匿名檢舉通道，自動生成唯一雜湊加密存證，杜絕吃案。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預期效益與社會價值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預期效益與社會價值 (Impact &amp; Value)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🏛️ 對教育局監理端</a:t>
            </a:r>
          </a:p>
          <a:p>
            <a:pPr>
              <a:spcBef>
                <a:spcPts val="1000"/>
              </a:spcBef>
              <a:defRPr sz="1400" b="1">
                <a:solidFill>
                  <a:srgbClr val="10B981"/>
                </a:solidFill>
              </a:defRPr>
            </a:pPr>
            <a:r>
              <a:t>稽查效率提升 300%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從漫無目的的隨機抽查，升級為以數據驅動的「精準前瞻打擊」，有效降低公務資源浪費，事前遏止惡性違規。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874519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🏫 對校園與教保機構</a:t>
            </a:r>
          </a:p>
          <a:p>
            <a:pPr>
              <a:spcBef>
                <a:spcPts val="1000"/>
              </a:spcBef>
              <a:defRPr sz="1400" b="1">
                <a:solidFill>
                  <a:srgbClr val="10B981"/>
                </a:solidFill>
              </a:defRPr>
            </a:pPr>
            <a:r>
              <a:t>促進行政自主合規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建立公開透明的 5D 評核標竿，促使業者自主加強師生比合規、食材溯源管理與落實反霸凌防墜措施。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874519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👨‍👩‍👧 對家長與學子</a:t>
            </a:r>
          </a:p>
          <a:p>
            <a:pPr>
              <a:spcBef>
                <a:spcPts val="1000"/>
              </a:spcBef>
              <a:defRPr sz="1400" b="1">
                <a:solidFill>
                  <a:srgbClr val="10B981"/>
                </a:solidFill>
              </a:defRPr>
            </a:pPr>
            <a:r>
              <a:t>安心就學與資訊對稱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一站式透明查詢學校真實體檢歷史與常規狀況，破除廣告包裝迷思，守護新北市 40 萬學童安全成長。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總結 ｜ 成果交付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總結與競賽成果交付清單 (Deliverables &amp; Summary)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9997135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874519"/>
            <a:ext cx="9235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563EB"/>
                </a:solidFill>
              </a:defRPr>
            </a:pPr>
            <a:r>
              <a:t>🎯 本專案完整成果交付清單（符合競賽 6 大繳交規範）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• 【1. 解決方案說明】：完整撰寫於提案簡報與 GitHub README（5D 治理指標、班佛定律防弊、全學制覆蓋）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• 【2. 數據及資料運用】：整合教育部、新北市 Open Data、採購網與 Google 評價，收錄新北 468 所真實校園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• 【3. AWS 雲端技術架構】：嚴格符合 S3 Block Public Access、VPC Private Subnet、Bedrock RPS&lt;=1 之高規格安全架構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• 【4. Live Demo 部署網址】：https://helpful-alcohol-stud-scout.trycloudflare.com (全功能即時在線)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• 【5. 提案簡報檔案】：包含 新北市校園治理情報平台_提案簡報.pptx 與線上高解析度 HTML/PDF 投影片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• 【6. GitHub 完整原始碼】：https://github.com/oscarlin9398-debug/smart-watchdog (公開 Public，完整開源)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2563EB"/>
                </a:solidFill>
              </a:defRPr>
            </a:pPr>
            <a:r>
              <a:t>感謝評審委員聆聽，敬請指教！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