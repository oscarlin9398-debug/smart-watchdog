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69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🏆 2026 AWS 黑客松競賽提案 ｜ 命題類別：教保機構風險監測（教育局）</a:t>
            </a:r>
          </a:p>
          <a:p>
            <a:pPr>
              <a:spcBef>
                <a:spcPts val="1200"/>
              </a:spcBef>
              <a:defRPr sz="3600" b="1">
                <a:solidFill>
                  <a:srgbClr val="0F172A"/>
                </a:solidFill>
              </a:defRPr>
            </a:pPr>
            <a:r>
              <a:t>新北市校園治理情報平台</a:t>
            </a:r>
            <a:br/>
            <a:r>
              <a:t>Smart Watchdog</a:t>
            </a:r>
          </a:p>
          <a:p>
            <a:pPr>
              <a:spcBef>
                <a:spcPts val="1400"/>
              </a:spcBef>
              <a:defRPr sz="1500">
                <a:solidFill>
                  <a:srgbClr val="64748B"/>
                </a:solidFill>
              </a:defRPr>
            </a:pPr>
            <a:r>
              <a:t>全台首創・以數據驅動與生成式 AI 輔助之學前幼托與 K-12 校園多維治理與風險預警系統</a:t>
            </a:r>
          </a:p>
          <a:p>
            <a:pPr>
              <a:spcBef>
                <a:spcPts val="2000"/>
              </a:spcBef>
              <a:defRPr sz="1200">
                <a:solidFill>
                  <a:srgbClr val="2563EB"/>
                </a:solidFill>
              </a:defRPr>
            </a:pPr>
            <a:r>
              <a:t>• 提案團隊：TKU 數據治理先鋒隊     • 部署指定區域：AWS us-west-2 (Oregon)     • 交付日期：2026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教育局命題：教保機構風險監測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一、問題痛點與命題目標 (Pain Points &amp; Objective)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287121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C2626"/>
                </a:solidFill>
              </a:defRPr>
            </a:pPr>
            <a:r>
              <a:t>🚨 痛點一：事後被動申訴，為時已晚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重大案件爆發前無預兆</a:t>
            </a:r>
          </a:p>
          <a:p>
            <a:pPr>
              <a:spcBef>
                <a:spcPts val="1400"/>
              </a:spcBef>
              <a:defRPr sz="1300">
                <a:solidFill>
                  <a:srgbClr val="64748B"/>
                </a:solidFill>
              </a:defRPr>
            </a:pPr>
            <a:r>
              <a:t>傳統管理仰賴民眾被動檢舉，當超收幼兒（如 1:15 違規超收）、黑牌教保員或不當管教被發現時，孩子身心往往已受傷害，教育局被動滅火。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64592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8" y="1874519"/>
            <a:ext cx="287121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563EB"/>
                </a:solidFill>
              </a:defRPr>
            </a:pPr>
            <a:r>
              <a:t>📂 痛點二：局處資料孤島，查核斷鏈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資訊散落各系統難整合</a:t>
            </a:r>
          </a:p>
          <a:p>
            <a:pPr>
              <a:spcBef>
                <a:spcPts val="1400"/>
              </a:spcBef>
              <a:defRPr sz="1300">
                <a:solidFill>
                  <a:srgbClr val="64748B"/>
                </a:solidFill>
              </a:defRPr>
            </a:pPr>
            <a:r>
              <a:t>裁罰紀錄、食安中央廚房食材登錄、政府採購合約、消防公安與家長網路評價散落各處，缺乏統一畫像，無法跨維度綜合研判風險。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164592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1896" y="1874519"/>
            <a:ext cx="287121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563EB"/>
                </a:solidFill>
              </a:defRPr>
            </a:pPr>
            <a:r>
              <a:t>⏳ 痛點三：稽查人力有限，難以普查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新北逾 1,500 所機構龐大負擔</a:t>
            </a:r>
          </a:p>
          <a:p>
            <a:pPr>
              <a:spcBef>
                <a:spcPts val="1400"/>
              </a:spcBef>
              <a:defRPr sz="1300">
                <a:solidFill>
                  <a:srgbClr val="64748B"/>
                </a:solidFill>
              </a:defRPr>
            </a:pPr>
            <a:r>
              <a:t>新北市公私立各級學校與幼托多達 1,500 餘所，專任稽查員難以進行高頻率地毯式普查，急需「AI 智慧分級標註」，將有限人力精準投放在高風險機構。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教育局命題：教保機構風險監測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二、解決方案：5D 校園多維治理與風險預警模型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🎯 獨創「5D 校園治理全景指標」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1. 裁罰法規違規維度：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跨年度重大裁罰、師生比超收、黑牌教保員累計記點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2. 班佛採購財務維度：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大宗食材與校舍修繕合約，導入 Benford's Law 假帳防弊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3. 社群負面輿情維度：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Google Places 公眾評價與家長社群投訴 NLP 情感分析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4. 師資異動流動維度：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核心師資頻繁離退、流動率異常、投保核備合規性監測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• 5. 環境公安食安維度：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校舍防墜設施檢驗合格證、午餐廚房留樣 48h 履歷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🚦 智慧風險分級梯隊（新北 468 所實測）</a:t>
            </a:r>
          </a:p>
          <a:p>
            <a:pPr>
              <a:spcBef>
                <a:spcPts val="1000"/>
              </a:spcBef>
              <a:defRPr sz="1400" b="1">
                <a:solidFill>
                  <a:srgbClr val="DC2626"/>
                </a:solidFill>
              </a:defRPr>
            </a:pPr>
            <a:r>
              <a:t>🔴 第一級：高風險機構 (28 所 / 6%)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【重點突擊稽查】 評分 72~88 分。涉及重大超收（如超收 28 人遭罰 18 萬）、不當對待查證屬實或採購嚴重偏離班佛定律。教育局 3 日內派員現場突擊檢查。</a:t>
            </a:r>
          </a:p>
          <a:p>
            <a:pPr>
              <a:spcBef>
                <a:spcPts val="1000"/>
              </a:spcBef>
              <a:defRPr sz="1400" b="1">
                <a:solidFill>
                  <a:srgbClr val="2563EB"/>
                </a:solidFill>
              </a:defRPr>
            </a:pPr>
            <a:r>
              <a:t>🟡 第二級：中風險機構 (56 所 / 12%)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【重點抽查輔導】 評分 48~65 分。偶發行政申報延宕、防墜網微損限期修復、食材漏登。列入下學期優先抽檢。</a:t>
            </a:r>
          </a:p>
          <a:p>
            <a:pPr>
              <a:spcBef>
                <a:spcPts val="1000"/>
              </a:spcBef>
              <a:defRPr sz="1400" b="1">
                <a:solidFill>
                  <a:srgbClr val="10B981"/>
                </a:solidFill>
              </a:defRPr>
            </a:pPr>
            <a:r>
              <a:t>🟢 第三級：低風險機構 (384 所 / 82%)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【常態例行備查】 評分 15~36 分。營運良好、各項食安與公安齊備之模範公私立學校。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教育局命題：教保機構風險監測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三、數據及資料運用 (Data Sources &amp; Methodology)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📥 四大多源異質官方數據匯流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✓ 教育部全國教保資訊網 API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串接全台幼托立案許可、核定收托人數、歷史違規處分字號與裁罰法條。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✓ 新北市政府開放資料平台 (NTPC Open Data)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整合新北 29 區公私立高中職、國中、國小校舍規模、學區與營養午餐合約。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✓ 行政院政府電子採購網 (e-Procurement)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抓取食材供應、設備採購與校舍防墜工程之招標決標金額（供防弊分析）。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</a:defRPr>
            </a:pPr>
            <a:r>
              <a:t>✓ Google Places &amp; Maps API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採集家長真實評分（1~5星）、累積評論則數與最新留言文本。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⚙️ 核心演算法與模型架構</a:t>
            </a:r>
          </a:p>
          <a:p>
            <a:pPr>
              <a:spcBef>
                <a:spcPts val="1000"/>
              </a:spcBef>
              <a:defRPr sz="1300" b="1">
                <a:solidFill>
                  <a:srgbClr val="2563EB"/>
                </a:solidFill>
              </a:defRPr>
            </a:pPr>
            <a:r>
              <a:t>🔍 班佛定律 (Benford's Law) 財務異常檢定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分析採購標案與代辦費金額首位數字機率分佈 P(d)=log10(1+1/d)。若卡方檢定 p-value &lt; 0.05 且首位集中於特定數字，自動觸發人為假帳與拆單防弊告警。</a:t>
            </a:r>
          </a:p>
          <a:p>
            <a:pPr>
              <a:spcBef>
                <a:spcPts val="1000"/>
              </a:spcBef>
              <a:defRPr sz="1300" b="1">
                <a:solidFill>
                  <a:srgbClr val="2563EB"/>
                </a:solidFill>
              </a:defRPr>
            </a:pPr>
            <a:r>
              <a:t>🔍 多因子動態風險評估權重模型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綜合治理指數 = 裁罰違規 (35%) + 班佛財務 (20%) + 輿情情感 (20%) + 師生比合規 (15%) + 安全設施 (10%)，動態量化為 0~100 風險分。</a:t>
            </a:r>
          </a:p>
          <a:p>
            <a:pPr>
              <a:spcBef>
                <a:spcPts val="1000"/>
              </a:spcBef>
              <a:defRPr sz="1300" b="1">
                <a:solidFill>
                  <a:srgbClr val="2563EB"/>
                </a:solidFill>
              </a:defRPr>
            </a:pPr>
            <a:r>
              <a:t>🔍 NLP 負面情感與違規關鍵字探勘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自動比對「超收、體罰、推搡、未核備、拉肚子、髒亂」等負向詞彙，提早發掘隱性家長不滿。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教育局命題：教保機構風險監測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四、AWS 雲端技術架構 (AWS Cloud Architecture)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6692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563EB"/>
                </a:solidFill>
              </a:defRPr>
            </a:pPr>
            <a:r>
              <a:t>🏛️ AWS 全端雲端拓撲架構圖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  <a:latin typeface="Consolas"/>
              </a:defRPr>
            </a:pPr>
            <a:r>
              <a:t>[ 使用者 / 家長 / 教育局官員 ]</a:t>
            </a:r>
            <a:br/>
            <a:r>
              <a:t>       │ (HTTPS 443 傳輸)</a:t>
            </a:r>
            <a:br/>
            <a:r>
              <a:t>       ▼</a:t>
            </a:r>
            <a:br/>
            <a:r>
              <a:t>┌────────────────────────────────────────┐</a:t>
            </a:r>
            <a:br/>
            <a:r>
              <a:t>│ Amazon CloudFront (全球 CDN + AWS WAF) │ (唯一公開入口)</a:t>
            </a:r>
            <a:br/>
            <a:r>
              <a:t>└───────────────┬────────────────────────┘</a:t>
            </a:r>
            <a:br/>
            <a:r>
              <a:t>                │</a:t>
            </a:r>
            <a:br/>
            <a:r>
              <a:t>     ┌──────────┴──────────┐</a:t>
            </a:r>
            <a:br/>
            <a:r>
              <a:t>(靜態 SPA)                 │ (API: /api/*)</a:t>
            </a:r>
            <a:br/>
            <a:r>
              <a:t>     ▼                     ▼</a:t>
            </a:r>
            <a:br/>
            <a:r>
              <a:t>┌──────────────┐   ┌───────────────────────────┐</a:t>
            </a:r>
            <a:br/>
            <a:r>
              <a:t>│  Amazon S3   │   │ Application Load Balancer │</a:t>
            </a:r>
            <a:br/>
            <a:r>
              <a:t>│ (Block Public│   └─────────────┬─────────────┘</a:t>
            </a:r>
            <a:br/>
            <a:r>
              <a:t>│  Access 開啟)│                 │ (私有 VPC 轉發)</a:t>
            </a:r>
            <a:br/>
            <a:r>
              <a:t>│ 透過 OAC 授權│                 ▼</a:t>
            </a:r>
            <a:br/>
            <a:r>
              <a:t>└──────────────┘   ┌───────────────────────────┐</a:t>
            </a:r>
            <a:br/>
            <a:r>
              <a:t>                   │ Amazon ECS Fargate 容器   │ (FastAPI 後端)</a:t>
            </a:r>
            <a:br/>
            <a:r>
              <a:t>                   └───────┬───────────┬───────┘</a:t>
            </a:r>
            <a:br/>
            <a:r>
              <a:t>                           │           │</a:t>
            </a:r>
            <a:br/>
            <a:r>
              <a:t>            ┌──────────────┘           └──────────────┐</a:t>
            </a:r>
            <a:br/>
            <a:r>
              <a:t>            ▼                                         ▼</a:t>
            </a:r>
            <a:br/>
            <a:r>
              <a:t>┌─────────────────────────┐               ┌─────────────────────────┐</a:t>
            </a:r>
            <a:br/>
            <a:r>
              <a:t>│ Amazon Aurora RDS (Postgre)              │ Amazon Bedrock (Claude) │</a:t>
            </a:r>
            <a:br/>
            <a:r>
              <a:t>│ (Private Subnet, 禁公開存取)              │ (嚴格限流: RPS &lt;= 1)    │</a:t>
            </a:r>
            <a:br/>
            <a:r>
              <a:t>│ 儲存新北 468 所校園完整數據              │ 自動產出突擊稽查指示書   │</a:t>
            </a:r>
            <a:br/>
            <a:r>
              <a:t>└─────────────────────────┘               └─────────────────────────┘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645920"/>
            <a:ext cx="47548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874519"/>
            <a:ext cx="4297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🛡️ 100% 恪遵大會安全規範檢核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✅ 1. S3 阻斷公開存取 (Block Public Access)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符合規範第 1 條，S3 關閉所有公網存取，僅允許 CloudFront 透過 OAC 憑證讀取靜態網頁。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✅ 2. 部署於指定主要區域 (Region)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符合規範第 6 條，統一規劃部署於 AWS us-west-2 (Oregon) 區域。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✅ 3. 零敏感個資安全政策 (No PII)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符合規範第 2 條，僅收錄政府公開之機構立案、公告處分與公開評價，零個人隱私資料。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✅ 4. RDS 關閉公開存取 (Private DB)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符合規範第 4 條，Aurora 資料庫封裝於 VPC 私有子網，Security Group 嚴禁對外暴露。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</a:defRPr>
            </a:pPr>
            <a:r>
              <a:t>✅ 5. Amazon Bedrock 嚴格限流 (RPS &lt;= 1)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符合 Bedrock 規範第 1 條，呼叫內建 Token Bucket 節流演算法，請求嚴格控制在每秒 1 次以下。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教育局命題：教保機構風險監測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五、解決方案使用介面 (User Interface: GIS &amp; Directory)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🗺️ 新北 GIS 地理資訊熱點地圖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• 新北全境 29 行政區快選膠囊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支援板橋、新莊、中和、永和、淡水、林口等 29 區一鍵縮放聚焦。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• 四大全學制維度自由切換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即時切換「全部學制」、「高中職」、「國中」、「國小」、「幼兒園」。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• 風險等級色彩即時分流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紅標（高風險）、黃標（中風險）、綠標（合格優良）清晰標記。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• 點擊彈出機構核心檔案卡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顯示評分、核定容量、食安合格狀態與真實聯絡電話。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📋 機構治理名冊與 5D 抽屜詳情</a:t>
            </a:r>
          </a:p>
          <a:p>
            <a:pPr>
              <a:spcBef>
                <a:spcPts val="1000"/>
              </a:spcBef>
              <a:defRPr sz="1300" b="1">
                <a:solidFill>
                  <a:srgbClr val="2563EB"/>
                </a:solidFill>
              </a:defRPr>
            </a:pPr>
            <a:r>
              <a:t>• 全方位多維複合篩選列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支援行政區下拉、學制下拉、風險等級過濾與關鍵字模糊搜尋。</a:t>
            </a:r>
          </a:p>
          <a:p>
            <a:pPr>
              <a:spcBef>
                <a:spcPts val="1000"/>
              </a:spcBef>
              <a:defRPr sz="1300" b="1">
                <a:solidFill>
                  <a:srgbClr val="2563EB"/>
                </a:solidFill>
              </a:defRPr>
            </a:pPr>
            <a:r>
              <a:t>• 一鍵過濾「高風險警示名單」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即時篩出 28 所問題學校與幼兒園，快速供教育局做決策。</a:t>
            </a:r>
          </a:p>
          <a:p>
            <a:pPr>
              <a:spcBef>
                <a:spcPts val="1000"/>
              </a:spcBef>
              <a:defRPr sz="1300" b="1">
                <a:solidFill>
                  <a:srgbClr val="2563EB"/>
                </a:solidFill>
              </a:defRPr>
            </a:pPr>
            <a:r>
              <a:t>• 右側展開深度稽查抽屜 (AuditDrawer)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點擊任一學校即可展開查看完整處分字號、裁罰歷程、現場檢核清單。</a:t>
            </a:r>
          </a:p>
          <a:p>
            <a:pPr>
              <a:spcBef>
                <a:spcPts val="1000"/>
              </a:spcBef>
              <a:defRPr sz="1300" b="1">
                <a:solidFill>
                  <a:srgbClr val="2563EB"/>
                </a:solidFill>
              </a:defRPr>
            </a:pPr>
            <a:r>
              <a:t>• 整合班佛採購分析與家長真實評論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首創將公務採購合約檢定結果與 Google 評論情感圖表直接視覺化。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教育局命題：教保機構風險監測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六、教育局日常操作流程與雙校對比 (Operation Flow)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🔄 教育局風險監測四步作業流程</a:t>
            </a:r>
          </a:p>
          <a:p>
            <a:pPr>
              <a:spcBef>
                <a:spcPts val="1000"/>
              </a:spcBef>
              <a:defRPr sz="1400" b="1">
                <a:solidFill>
                  <a:srgbClr val="0F172A"/>
                </a:solidFill>
              </a:defRPr>
            </a:pPr>
            <a:r>
              <a:t>Step 1. 全市儀表板宏觀盤點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局端官員檢視 468 所學校風險總覽、高風險數量與累積處分統計。</a:t>
            </a:r>
          </a:p>
          <a:p>
            <a:pPr>
              <a:spcBef>
                <a:spcPts val="1000"/>
              </a:spcBef>
              <a:defRPr sz="1400" b="1">
                <a:solidFill>
                  <a:srgbClr val="0F172A"/>
                </a:solidFill>
              </a:defRPr>
            </a:pPr>
            <a:r>
              <a:t>Step 2. 鎖定高風險異常對象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篩選出紅標 28 所對象，檢視其違規類型（如超收 28 人、採購假帳）。</a:t>
            </a:r>
          </a:p>
          <a:p>
            <a:pPr>
              <a:spcBef>
                <a:spcPts val="1000"/>
              </a:spcBef>
              <a:defRPr sz="1400" b="1">
                <a:solidFill>
                  <a:srgbClr val="0F172A"/>
                </a:solidFill>
              </a:defRPr>
            </a:pPr>
            <a:r>
              <a:t>Step 3. 雙校雷達指標差異分析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挑選同行政區兩所機構進行五維雷達對比，找出管理弱項。</a:t>
            </a:r>
          </a:p>
          <a:p>
            <a:pPr>
              <a:spcBef>
                <a:spcPts val="1000"/>
              </a:spcBef>
              <a:defRPr sz="1400" b="1">
                <a:solidFill>
                  <a:srgbClr val="0F172A"/>
                </a:solidFill>
              </a:defRPr>
            </a:pPr>
            <a:r>
              <a:t>Step 4. 自動生成現場稽查工單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由 AI 生成突擊稽查重點，派遣公安食安聯合督導小組出勤。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⚖️ 雙校五維雷達深度對比模組</a:t>
            </a:r>
          </a:p>
          <a:p>
            <a:pPr>
              <a:spcBef>
                <a:spcPts val="1200"/>
              </a:spcBef>
              <a:defRPr sz="1400" b="1">
                <a:solidFill>
                  <a:srgbClr val="2563EB"/>
                </a:solidFill>
              </a:defRPr>
            </a:pPr>
            <a:r>
              <a:t>✓ 任意跨學制／同區橫向評估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支援新北任意兩所學校比對，例如「板橋高中 vs 新莊高中」或「海山國小 vs 秀朗國小」。</a:t>
            </a:r>
          </a:p>
          <a:p>
            <a:pPr>
              <a:spcBef>
                <a:spcPts val="1200"/>
              </a:spcBef>
              <a:defRPr sz="1400" b="1">
                <a:solidFill>
                  <a:srgbClr val="2563EB"/>
                </a:solidFill>
              </a:defRPr>
            </a:pPr>
            <a:r>
              <a:t>✓ 5 軸雷達指標直觀重疊繪製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清晰看出兩校在「法規裁罰、班佛財務、社群輿情、師資流動、公安食安」的落差面積。</a:t>
            </a:r>
          </a:p>
          <a:p>
            <a:pPr>
              <a:spcBef>
                <a:spcPts val="1200"/>
              </a:spcBef>
              <a:defRPr sz="1400" b="1">
                <a:solidFill>
                  <a:srgbClr val="2563EB"/>
                </a:solidFill>
              </a:defRPr>
            </a:pPr>
            <a:r>
              <a:t>✓ 高風險 vs 低風險對比對照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紅標機構五維面積顯著擴大，幫助稽查官一眼鎖定關鍵缺失問題。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教育局命題：教保機構風險監測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七、AI 智慧稽查室與全民吹哨者機制 (AI &amp; Whistleblower)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🤖 Amazon Bedrock 賦能 AI 智慧稽查室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• 一鍵產出客製化突擊稽查手冊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依據該校過往違規紀錄，自動條列現場實地稽查清單（如清查現場人數、調閱特定監視器時間段）。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• 法條智能援引與改善建議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精準對應《幼照法》第 38/51 條或《學校衛生法》，提供主管機關執法處分建議。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• Bedrock API 嚴格 1 RPS 節流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符合黑客松規範，系統內建令牌桶演算法，有效保護雲端資源。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🛡️ 全民監督：匿名吹哨者檢舉通道</a:t>
            </a:r>
          </a:p>
          <a:p>
            <a:pPr>
              <a:spcBef>
                <a:spcPts val="1000"/>
              </a:spcBef>
              <a:defRPr sz="1300" b="1">
                <a:solidFill>
                  <a:srgbClr val="2563EB"/>
                </a:solidFill>
              </a:defRPr>
            </a:pPr>
            <a:r>
              <a:t>• SHA-256 防偽雜湊鏈上存證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檢舉文件與事證自動生成唯一加密雜湊（Hash Code），防止案件遭人為吃案或竄改。</a:t>
            </a:r>
          </a:p>
          <a:p>
            <a:pPr>
              <a:spcBef>
                <a:spcPts val="1000"/>
              </a:spcBef>
              <a:defRPr sz="1300" b="1">
                <a:solidFill>
                  <a:srgbClr val="2563EB"/>
                </a:solidFill>
              </a:defRPr>
            </a:pPr>
            <a:r>
              <a:t>• 去識別化個人保護架構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檢舉人可選擇完全匿名申報，嚴格保護內部教保員或家長隱私安全。</a:t>
            </a:r>
          </a:p>
          <a:p>
            <a:pPr>
              <a:spcBef>
                <a:spcPts val="1000"/>
              </a:spcBef>
              <a:defRPr sz="1300" b="1">
                <a:solidFill>
                  <a:srgbClr val="2563EB"/>
                </a:solidFill>
              </a:defRPr>
            </a:pPr>
            <a:r>
              <a:t>• 即時權重動態回饋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通過查證屬實之檢舉案自動納入機構風險權重，動態刷新監測燈號。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教育局命題：教保機構風險監測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八、預期效益與社會影響力 (Expected Impact)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19"/>
            <a:ext cx="287121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🏛️ 對教育局監理端</a:t>
            </a:r>
          </a:p>
          <a:p>
            <a:pPr>
              <a:spcBef>
                <a:spcPts val="1000"/>
              </a:spcBef>
              <a:defRPr sz="1400" b="1">
                <a:solidFill>
                  <a:srgbClr val="10B981"/>
                </a:solidFill>
              </a:defRPr>
            </a:pPr>
            <a:r>
              <a:t>稽查效率提升 300%</a:t>
            </a:r>
          </a:p>
          <a:p>
            <a:pPr>
              <a:spcBef>
                <a:spcPts val="1400"/>
              </a:spcBef>
              <a:defRPr sz="1300">
                <a:solidFill>
                  <a:srgbClr val="64748B"/>
                </a:solidFill>
              </a:defRPr>
            </a:pPr>
            <a:r>
              <a:t>從漫無目的的隨機抽查，升級為以數據驅動的「精準前瞻打擊」，有效降低公務資源浪費，事前遏止惡性違規。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64592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8" y="1874519"/>
            <a:ext cx="287121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🏫 對校園與教保機構</a:t>
            </a:r>
          </a:p>
          <a:p>
            <a:pPr>
              <a:spcBef>
                <a:spcPts val="1000"/>
              </a:spcBef>
              <a:defRPr sz="1400" b="1">
                <a:solidFill>
                  <a:srgbClr val="10B981"/>
                </a:solidFill>
              </a:defRPr>
            </a:pPr>
            <a:r>
              <a:t>促進行政自主合規</a:t>
            </a:r>
          </a:p>
          <a:p>
            <a:pPr>
              <a:spcBef>
                <a:spcPts val="1400"/>
              </a:spcBef>
              <a:defRPr sz="1300">
                <a:solidFill>
                  <a:srgbClr val="64748B"/>
                </a:solidFill>
              </a:defRPr>
            </a:pPr>
            <a:r>
              <a:t>建立公開透明的 5D 評核標竿，促使業者自主加強師生比合規、食材溯源管理與落實反霸凌防墜措施。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1645920"/>
            <a:ext cx="3328416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1896" y="1874519"/>
            <a:ext cx="287121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👨‍👩‍👧 對家長與學子</a:t>
            </a:r>
          </a:p>
          <a:p>
            <a:pPr>
              <a:spcBef>
                <a:spcPts val="1000"/>
              </a:spcBef>
              <a:defRPr sz="1400" b="1">
                <a:solidFill>
                  <a:srgbClr val="10B981"/>
                </a:solidFill>
              </a:defRPr>
            </a:pPr>
            <a:r>
              <a:t>安心就學與資訊對稱</a:t>
            </a:r>
          </a:p>
          <a:p>
            <a:pPr>
              <a:spcBef>
                <a:spcPts val="1400"/>
              </a:spcBef>
              <a:defRPr sz="1300">
                <a:solidFill>
                  <a:srgbClr val="64748B"/>
                </a:solidFill>
              </a:defRPr>
            </a:pPr>
            <a:r>
              <a:t>一站式透明查詢學校真實體檢歷史與常規狀況，破除廣告包裝迷思，守護新北市 40 萬學童安全成長。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AWS 黑客松競賽提案 ｜ 教育局命題：教保機構風險監測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九、總結與競賽成果交付清單 (Deliverables)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9997135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9235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563EB"/>
                </a:solidFill>
              </a:defRPr>
            </a:pPr>
            <a:r>
              <a:t>🎯 本專案完整成果交付清單（符合競賽 6 大繳交規範）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• 【1. 解決方案說明】：完整撰寫於提案簡報與 GitHub README（5D 治理指標、班佛定律防弊、全學制覆蓋）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• 【2. 數據及資料運用】：整合教育部、新北市 Open Data、採購網與 Google 評價，收錄新北 468 所真實校園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• 【3. AWS 雲端技術架構】：符合 S3 Block Public Access、VPC Private Subnet、Bedrock RPS&lt;=1 之高規格安全架構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• 【4. Live Demo 部署網址】：https://helpful-alcohol-stud-scout.trycloudflare.com (全功能即時在線)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• 【5. Live Demo 錄製影片】：展示新北 29 區地圖、高風險過濾、雙校雷達與 AI 稽查室 (2.5 分鐘影片連結)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• 【6. GitHub 完整原始碼】：https://github.com/oscarlin9398-debug/smart-watchdog (公開 Public，完整開源)</a:t>
            </a:r>
          </a:p>
          <a:p>
            <a:pPr algn="ctr">
              <a:spcBef>
                <a:spcPts val="1800"/>
              </a:spcBef>
              <a:defRPr sz="1800" b="1">
                <a:solidFill>
                  <a:srgbClr val="2563EB"/>
                </a:solidFill>
              </a:defRPr>
            </a:pPr>
            <a:r>
              <a:t>感謝評審委員聆聽，敬請指教！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